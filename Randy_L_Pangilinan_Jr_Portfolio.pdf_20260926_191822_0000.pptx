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Lst>
  <p:sldSz cx="7556500" cy="10693400"/>
  <p:notesSz cx="6858000" cy="9144000"/>
  <p:embeddedFontLst>
    <p:embeddedFont>
      <p:font typeface="DejaVu Sans Light" charset="1" panose="020B0603030804020204"/>
      <p:regular r:id="rId11"/>
    </p:embeddedFont>
    <p:embeddedFont>
      <p:font typeface="DejaVu Sans Bold" charset="1" panose="020B0803030604020204"/>
      <p:regular r:id="rId1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fonts/font11.fntdata" Type="http://schemas.openxmlformats.org/officeDocument/2006/relationships/font"/><Relationship Id="rId12" Target="fonts/font12.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svg" Type="http://schemas.openxmlformats.org/officeDocument/2006/relationships/image"/><Relationship Id="rId2" Target="../media/image6.png" Type="http://schemas.openxmlformats.org/officeDocument/2006/relationships/image"/><Relationship Id="rId3" Target="../media/image7.sv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 Id="rId6" Target="../media/image10.svg" Type="http://schemas.openxmlformats.org/officeDocument/2006/relationships/image"/><Relationship Id="rId7" Target="../media/image11.svg" Type="http://schemas.openxmlformats.org/officeDocument/2006/relationships/image"/><Relationship Id="rId8" Target="../media/image12.svg" Type="http://schemas.openxmlformats.org/officeDocument/2006/relationships/image"/><Relationship Id="rId9" Target="../media/image13.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19.png" Type="http://schemas.openxmlformats.org/officeDocument/2006/relationships/image"/><Relationship Id="rId7" Target="../media/image20.svg" Type="http://schemas.openxmlformats.org/officeDocument/2006/relationships/image"/><Relationship Id="rId8" Target="../media/image21.png" Type="http://schemas.openxmlformats.org/officeDocument/2006/relationships/image"/><Relationship Id="rId9" Target="../media/image22.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1.svg" Type="http://schemas.openxmlformats.org/officeDocument/2006/relationships/image"/><Relationship Id="rId2" Target="../media/image23.png" Type="http://schemas.openxmlformats.org/officeDocument/2006/relationships/image"/><Relationship Id="rId3" Target="../media/image24.svg" Type="http://schemas.openxmlformats.org/officeDocument/2006/relationships/image"/><Relationship Id="rId4" Target="../media/image25.png" Type="http://schemas.openxmlformats.org/officeDocument/2006/relationships/image"/><Relationship Id="rId5" Target="../media/image26.svg" Type="http://schemas.openxmlformats.org/officeDocument/2006/relationships/image"/><Relationship Id="rId6" Target="../media/image27.png" Type="http://schemas.openxmlformats.org/officeDocument/2006/relationships/image"/><Relationship Id="rId7" Target="../media/image28.svg" Type="http://schemas.openxmlformats.org/officeDocument/2006/relationships/image"/><Relationship Id="rId8" Target="../media/image29.png" Type="http://schemas.openxmlformats.org/officeDocument/2006/relationships/image"/><Relationship Id="rId9" Target="../media/image30.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968503" y="3792217"/>
            <a:ext cx="3619500" cy="10163"/>
            <a:chOff x="0" y="0"/>
            <a:chExt cx="3619500" cy="10160"/>
          </a:xfrm>
        </p:grpSpPr>
        <p:sp>
          <p:nvSpPr>
            <p:cNvPr name="Freeform 3" id="3"/>
            <p:cNvSpPr/>
            <p:nvPr/>
          </p:nvSpPr>
          <p:spPr>
            <a:xfrm flipH="false" flipV="false" rot="0">
              <a:off x="0" y="0"/>
              <a:ext cx="3619500" cy="10160"/>
            </a:xfrm>
            <a:custGeom>
              <a:avLst/>
              <a:gdLst/>
              <a:ahLst/>
              <a:cxnLst/>
              <a:rect r="r" b="b" t="t" l="l"/>
              <a:pathLst>
                <a:path h="10160" w="3619500">
                  <a:moveTo>
                    <a:pt x="0" y="0"/>
                  </a:moveTo>
                  <a:lnTo>
                    <a:pt x="3619500" y="0"/>
                  </a:lnTo>
                  <a:lnTo>
                    <a:pt x="3619500" y="10160"/>
                  </a:lnTo>
                  <a:lnTo>
                    <a:pt x="0" y="10160"/>
                  </a:lnTo>
                  <a:close/>
                </a:path>
              </a:pathLst>
            </a:custGeom>
            <a:solidFill>
              <a:srgbClr val="5E6872"/>
            </a:solidFill>
          </p:spPr>
        </p:sp>
      </p:grpSp>
      <p:grpSp>
        <p:nvGrpSpPr>
          <p:cNvPr name="Group 4" id="4"/>
          <p:cNvGrpSpPr/>
          <p:nvPr/>
        </p:nvGrpSpPr>
        <p:grpSpPr>
          <a:xfrm rot="0">
            <a:off x="1968503" y="4109723"/>
            <a:ext cx="3619500" cy="10163"/>
            <a:chOff x="0" y="0"/>
            <a:chExt cx="3619500" cy="10160"/>
          </a:xfrm>
        </p:grpSpPr>
        <p:sp>
          <p:nvSpPr>
            <p:cNvPr name="Freeform 5" id="5"/>
            <p:cNvSpPr/>
            <p:nvPr/>
          </p:nvSpPr>
          <p:spPr>
            <a:xfrm flipH="false" flipV="false" rot="0">
              <a:off x="0" y="0"/>
              <a:ext cx="3619500" cy="10160"/>
            </a:xfrm>
            <a:custGeom>
              <a:avLst/>
              <a:gdLst/>
              <a:ahLst/>
              <a:cxnLst/>
              <a:rect r="r" b="b" t="t" l="l"/>
              <a:pathLst>
                <a:path h="10160" w="3619500">
                  <a:moveTo>
                    <a:pt x="0" y="0"/>
                  </a:moveTo>
                  <a:lnTo>
                    <a:pt x="3619500" y="0"/>
                  </a:lnTo>
                  <a:lnTo>
                    <a:pt x="3619500" y="10160"/>
                  </a:lnTo>
                  <a:lnTo>
                    <a:pt x="0" y="10160"/>
                  </a:lnTo>
                  <a:close/>
                </a:path>
              </a:pathLst>
            </a:custGeom>
            <a:solidFill>
              <a:srgbClr val="5E6872"/>
            </a:solidFill>
          </p:spPr>
        </p:sp>
      </p:grpSp>
      <p:grpSp>
        <p:nvGrpSpPr>
          <p:cNvPr name="Group 6" id="6"/>
          <p:cNvGrpSpPr/>
          <p:nvPr/>
        </p:nvGrpSpPr>
        <p:grpSpPr>
          <a:xfrm rot="0">
            <a:off x="1968503" y="4427220"/>
            <a:ext cx="3619500" cy="10163"/>
            <a:chOff x="0" y="0"/>
            <a:chExt cx="3619500" cy="10160"/>
          </a:xfrm>
        </p:grpSpPr>
        <p:sp>
          <p:nvSpPr>
            <p:cNvPr name="Freeform 7" id="7"/>
            <p:cNvSpPr/>
            <p:nvPr/>
          </p:nvSpPr>
          <p:spPr>
            <a:xfrm flipH="false" flipV="false" rot="0">
              <a:off x="0" y="0"/>
              <a:ext cx="3619500" cy="10160"/>
            </a:xfrm>
            <a:custGeom>
              <a:avLst/>
              <a:gdLst/>
              <a:ahLst/>
              <a:cxnLst/>
              <a:rect r="r" b="b" t="t" l="l"/>
              <a:pathLst>
                <a:path h="10160" w="3619500">
                  <a:moveTo>
                    <a:pt x="0" y="0"/>
                  </a:moveTo>
                  <a:lnTo>
                    <a:pt x="3619500" y="0"/>
                  </a:lnTo>
                  <a:lnTo>
                    <a:pt x="3619500" y="10160"/>
                  </a:lnTo>
                  <a:lnTo>
                    <a:pt x="0" y="10160"/>
                  </a:lnTo>
                  <a:close/>
                </a:path>
              </a:pathLst>
            </a:custGeom>
            <a:solidFill>
              <a:srgbClr val="5E6872"/>
            </a:solidFill>
          </p:spPr>
        </p:sp>
      </p:grpSp>
      <p:grpSp>
        <p:nvGrpSpPr>
          <p:cNvPr name="Group 8" id="8"/>
          <p:cNvGrpSpPr/>
          <p:nvPr/>
        </p:nvGrpSpPr>
        <p:grpSpPr>
          <a:xfrm rot="0">
            <a:off x="635003" y="355597"/>
            <a:ext cx="1168403" cy="698497"/>
            <a:chOff x="0" y="0"/>
            <a:chExt cx="1557871" cy="931329"/>
          </a:xfrm>
        </p:grpSpPr>
        <p:sp>
          <p:nvSpPr>
            <p:cNvPr name="Freeform 9" id="9"/>
            <p:cNvSpPr/>
            <p:nvPr/>
          </p:nvSpPr>
          <p:spPr>
            <a:xfrm flipH="false" flipV="false" rot="0">
              <a:off x="0" y="0"/>
              <a:ext cx="1557909" cy="931291"/>
            </a:xfrm>
            <a:custGeom>
              <a:avLst/>
              <a:gdLst/>
              <a:ahLst/>
              <a:cxnLst/>
              <a:rect r="r" b="b" t="t" l="l"/>
              <a:pathLst>
                <a:path h="931291" w="1557909">
                  <a:moveTo>
                    <a:pt x="0" y="0"/>
                  </a:moveTo>
                  <a:lnTo>
                    <a:pt x="1557909" y="0"/>
                  </a:lnTo>
                  <a:lnTo>
                    <a:pt x="1557909" y="931291"/>
                  </a:lnTo>
                  <a:lnTo>
                    <a:pt x="0" y="931291"/>
                  </a:lnTo>
                  <a:lnTo>
                    <a:pt x="0" y="0"/>
                  </a:lnTo>
                  <a:close/>
                </a:path>
              </a:pathLst>
            </a:custGeom>
            <a:blipFill>
              <a:blip r:embed="rId2"/>
              <a:stretch>
                <a:fillRect l="0" t="0" r="2" b="-4"/>
              </a:stretch>
            </a:blipFill>
          </p:spPr>
        </p:sp>
      </p:grpSp>
      <p:grpSp>
        <p:nvGrpSpPr>
          <p:cNvPr name="Group 10" id="10"/>
          <p:cNvGrpSpPr/>
          <p:nvPr/>
        </p:nvGrpSpPr>
        <p:grpSpPr>
          <a:xfrm rot="0">
            <a:off x="5718496" y="304800"/>
            <a:ext cx="1269997" cy="685800"/>
            <a:chOff x="0" y="0"/>
            <a:chExt cx="1693329" cy="914400"/>
          </a:xfrm>
        </p:grpSpPr>
        <p:sp>
          <p:nvSpPr>
            <p:cNvPr name="Freeform 11" id="11"/>
            <p:cNvSpPr/>
            <p:nvPr/>
          </p:nvSpPr>
          <p:spPr>
            <a:xfrm flipH="false" flipV="false" rot="0">
              <a:off x="0" y="0"/>
              <a:ext cx="1693291" cy="914400"/>
            </a:xfrm>
            <a:custGeom>
              <a:avLst/>
              <a:gdLst/>
              <a:ahLst/>
              <a:cxnLst/>
              <a:rect r="r" b="b" t="t" l="l"/>
              <a:pathLst>
                <a:path h="914400" w="1693291">
                  <a:moveTo>
                    <a:pt x="0" y="0"/>
                  </a:moveTo>
                  <a:lnTo>
                    <a:pt x="1693291" y="0"/>
                  </a:lnTo>
                  <a:lnTo>
                    <a:pt x="1693291" y="914400"/>
                  </a:lnTo>
                  <a:lnTo>
                    <a:pt x="0" y="914400"/>
                  </a:lnTo>
                  <a:lnTo>
                    <a:pt x="0" y="0"/>
                  </a:lnTo>
                  <a:close/>
                </a:path>
              </a:pathLst>
            </a:custGeom>
            <a:blipFill>
              <a:blip r:embed="rId3"/>
              <a:stretch>
                <a:fillRect l="0" t="0" r="-2" b="0"/>
              </a:stretch>
            </a:blipFill>
          </p:spPr>
        </p:sp>
      </p:grpSp>
      <p:sp>
        <p:nvSpPr>
          <p:cNvPr name="TextBox 12" id="12"/>
          <p:cNvSpPr txBox="true"/>
          <p:nvPr/>
        </p:nvSpPr>
        <p:spPr>
          <a:xfrm rot="0">
            <a:off x="1968503" y="3911098"/>
            <a:ext cx="2126923" cy="172269"/>
          </a:xfrm>
          <a:prstGeom prst="rect">
            <a:avLst/>
          </a:prstGeom>
        </p:spPr>
        <p:txBody>
          <a:bodyPr anchor="t" rtlCol="false" tIns="0" lIns="0" bIns="0" rIns="0">
            <a:spAutoFit/>
          </a:bodyPr>
          <a:lstStyle/>
          <a:p>
            <a:pPr algn="l">
              <a:lnSpc>
                <a:spcPts val="1330"/>
              </a:lnSpc>
            </a:pPr>
            <a:r>
              <a:rPr lang="en-US" sz="950">
                <a:solidFill>
                  <a:srgbClr val="182533"/>
                </a:solidFill>
                <a:latin typeface="DejaVu Sans Light"/>
                <a:ea typeface="DejaVu Sans Light"/>
                <a:cs typeface="DejaVu Sans Light"/>
                <a:sym typeface="DejaVu Sans Light"/>
              </a:rPr>
              <a:t>Student Number: 01-2627-031239</a:t>
            </a:r>
          </a:p>
        </p:txBody>
      </p:sp>
      <p:sp>
        <p:nvSpPr>
          <p:cNvPr name="TextBox 13" id="13"/>
          <p:cNvSpPr txBox="true"/>
          <p:nvPr/>
        </p:nvSpPr>
        <p:spPr>
          <a:xfrm rot="0">
            <a:off x="1968503" y="4228605"/>
            <a:ext cx="1956406" cy="172269"/>
          </a:xfrm>
          <a:prstGeom prst="rect">
            <a:avLst/>
          </a:prstGeom>
        </p:spPr>
        <p:txBody>
          <a:bodyPr anchor="t" rtlCol="false" tIns="0" lIns="0" bIns="0" rIns="0">
            <a:spAutoFit/>
          </a:bodyPr>
          <a:lstStyle/>
          <a:p>
            <a:pPr algn="l">
              <a:lnSpc>
                <a:spcPts val="1330"/>
              </a:lnSpc>
            </a:pPr>
            <a:r>
              <a:rPr lang="en-US" sz="950">
                <a:solidFill>
                  <a:srgbClr val="182533"/>
                </a:solidFill>
                <a:latin typeface="DejaVu Sans Light"/>
                <a:ea typeface="DejaVu Sans Light"/>
                <a:cs typeface="DejaVu Sans Light"/>
                <a:sym typeface="DejaVu Sans Light"/>
              </a:rPr>
              <a:t>Permit Number: 521251393630</a:t>
            </a:r>
          </a:p>
        </p:txBody>
      </p:sp>
      <p:sp>
        <p:nvSpPr>
          <p:cNvPr name="TextBox 14" id="14"/>
          <p:cNvSpPr txBox="true"/>
          <p:nvPr/>
        </p:nvSpPr>
        <p:spPr>
          <a:xfrm rot="0">
            <a:off x="3231099" y="5772226"/>
            <a:ext cx="1119769" cy="172269"/>
          </a:xfrm>
          <a:prstGeom prst="rect">
            <a:avLst/>
          </a:prstGeom>
        </p:spPr>
        <p:txBody>
          <a:bodyPr anchor="t" rtlCol="false" tIns="0" lIns="0" bIns="0" rIns="0">
            <a:spAutoFit/>
          </a:bodyPr>
          <a:lstStyle/>
          <a:p>
            <a:pPr algn="l">
              <a:lnSpc>
                <a:spcPts val="1330"/>
              </a:lnSpc>
            </a:pPr>
            <a:r>
              <a:rPr lang="en-US" b="true" sz="950">
                <a:solidFill>
                  <a:srgbClr val="182533"/>
                </a:solidFill>
                <a:latin typeface="DejaVu Sans Bold"/>
                <a:ea typeface="DejaVu Sans Bold"/>
                <a:cs typeface="DejaVu Sans Bold"/>
                <a:sym typeface="DejaVu Sans Bold"/>
              </a:rPr>
              <a:t>Subject Teacher</a:t>
            </a:r>
          </a:p>
        </p:txBody>
      </p:sp>
      <p:sp>
        <p:nvSpPr>
          <p:cNvPr name="TextBox 15" id="15"/>
          <p:cNvSpPr txBox="true"/>
          <p:nvPr/>
        </p:nvSpPr>
        <p:spPr>
          <a:xfrm rot="0">
            <a:off x="2606754" y="466801"/>
            <a:ext cx="2393442" cy="359597"/>
          </a:xfrm>
          <a:prstGeom prst="rect">
            <a:avLst/>
          </a:prstGeom>
        </p:spPr>
        <p:txBody>
          <a:bodyPr anchor="t" rtlCol="false" tIns="0" lIns="0" bIns="0" rIns="0">
            <a:spAutoFit/>
          </a:bodyPr>
          <a:lstStyle/>
          <a:p>
            <a:pPr algn="just">
              <a:lnSpc>
                <a:spcPts val="1400"/>
              </a:lnSpc>
            </a:pPr>
            <a:r>
              <a:rPr lang="en-US" b="true" sz="950">
                <a:solidFill>
                  <a:srgbClr val="182533"/>
                </a:solidFill>
                <a:latin typeface="DejaVu Sans Bold"/>
                <a:ea typeface="DejaVu Sans Bold"/>
                <a:cs typeface="DejaVu Sans Bold"/>
                <a:sym typeface="DejaVu Sans Bold"/>
              </a:rPr>
              <a:t>PHINMA Araullo University - South College of Information Technology</a:t>
            </a:r>
          </a:p>
        </p:txBody>
      </p:sp>
      <p:sp>
        <p:nvSpPr>
          <p:cNvPr name="TextBox 16" id="16"/>
          <p:cNvSpPr txBox="true"/>
          <p:nvPr/>
        </p:nvSpPr>
        <p:spPr>
          <a:xfrm rot="0">
            <a:off x="2996317" y="856307"/>
            <a:ext cx="35004" cy="147618"/>
          </a:xfrm>
          <a:prstGeom prst="rect">
            <a:avLst/>
          </a:prstGeom>
        </p:spPr>
        <p:txBody>
          <a:bodyPr anchor="t" rtlCol="false" tIns="0" lIns="0" bIns="0" rIns="0">
            <a:spAutoFit/>
          </a:bodyPr>
          <a:lstStyle/>
          <a:p>
            <a:pPr algn="l">
              <a:lnSpc>
                <a:spcPts val="1189"/>
              </a:lnSpc>
            </a:pPr>
            <a:r>
              <a:rPr lang="en-US" sz="849">
                <a:solidFill>
                  <a:srgbClr val="182533"/>
                </a:solidFill>
                <a:latin typeface="DejaVu Sans Light"/>
                <a:ea typeface="DejaVu Sans Light"/>
                <a:cs typeface="DejaVu Sans Light"/>
                <a:sym typeface="DejaVu Sans Light"/>
              </a:rPr>
              <a:t> </a:t>
            </a:r>
          </a:p>
        </p:txBody>
      </p:sp>
      <p:sp>
        <p:nvSpPr>
          <p:cNvPr name="TextBox 17" id="17"/>
          <p:cNvSpPr txBox="true"/>
          <p:nvPr/>
        </p:nvSpPr>
        <p:spPr>
          <a:xfrm rot="0">
            <a:off x="1450591" y="2577598"/>
            <a:ext cx="4752232" cy="172269"/>
          </a:xfrm>
          <a:prstGeom prst="rect">
            <a:avLst/>
          </a:prstGeom>
        </p:spPr>
        <p:txBody>
          <a:bodyPr anchor="t" rtlCol="false" tIns="0" lIns="0" bIns="0" rIns="0">
            <a:spAutoFit/>
          </a:bodyPr>
          <a:lstStyle/>
          <a:p>
            <a:pPr algn="l">
              <a:lnSpc>
                <a:spcPts val="1330"/>
              </a:lnSpc>
            </a:pPr>
            <a:r>
              <a:rPr lang="en-US" sz="950">
                <a:solidFill>
                  <a:srgbClr val="182533"/>
                </a:solidFill>
                <a:latin typeface="DejaVu Sans Light"/>
                <a:ea typeface="DejaVu Sans Light"/>
                <a:cs typeface="DejaVu Sans Light"/>
                <a:sym typeface="DejaVu Sans Light"/>
              </a:rPr>
              <a:t>Resume, Cover Letter, Job/Employer Reference, and Process &amp; Integrity Note</a:t>
            </a:r>
          </a:p>
        </p:txBody>
      </p:sp>
      <p:sp>
        <p:nvSpPr>
          <p:cNvPr name="TextBox 18" id="18"/>
          <p:cNvSpPr txBox="true"/>
          <p:nvPr/>
        </p:nvSpPr>
        <p:spPr>
          <a:xfrm rot="0">
            <a:off x="2521448" y="856307"/>
            <a:ext cx="2567940" cy="147618"/>
          </a:xfrm>
          <a:prstGeom prst="rect">
            <a:avLst/>
          </a:prstGeom>
        </p:spPr>
        <p:txBody>
          <a:bodyPr anchor="t" rtlCol="false" tIns="0" lIns="0" bIns="0" rIns="0">
            <a:spAutoFit/>
          </a:bodyPr>
          <a:lstStyle/>
          <a:p>
            <a:pPr algn="l">
              <a:lnSpc>
                <a:spcPts val="1189"/>
              </a:lnSpc>
            </a:pPr>
            <a:r>
              <a:rPr lang="en-US" sz="849">
                <a:solidFill>
                  <a:srgbClr val="182533"/>
                </a:solidFill>
                <a:latin typeface="DejaVu Sans Light"/>
                <a:ea typeface="DejaVu Sans Light"/>
                <a:cs typeface="DejaVu Sans Light"/>
                <a:sym typeface="DejaVu Sans Light"/>
              </a:rPr>
              <a:t>Bachelorof Sciencein InformationTechnology</a:t>
            </a:r>
          </a:p>
        </p:txBody>
      </p:sp>
      <p:sp>
        <p:nvSpPr>
          <p:cNvPr name="TextBox 19" id="19"/>
          <p:cNvSpPr txBox="true"/>
          <p:nvPr/>
        </p:nvSpPr>
        <p:spPr>
          <a:xfrm rot="0">
            <a:off x="2914479" y="1021404"/>
            <a:ext cx="1765506" cy="147618"/>
          </a:xfrm>
          <a:prstGeom prst="rect">
            <a:avLst/>
          </a:prstGeom>
        </p:spPr>
        <p:txBody>
          <a:bodyPr anchor="t" rtlCol="false" tIns="0" lIns="0" bIns="0" rIns="0">
            <a:spAutoFit/>
          </a:bodyPr>
          <a:lstStyle/>
          <a:p>
            <a:pPr algn="l">
              <a:lnSpc>
                <a:spcPts val="1189"/>
              </a:lnSpc>
            </a:pPr>
            <a:r>
              <a:rPr lang="en-US" sz="849">
                <a:solidFill>
                  <a:srgbClr val="182533"/>
                </a:solidFill>
                <a:latin typeface="DejaVu Sans Light"/>
                <a:ea typeface="DejaVu Sans Light"/>
                <a:cs typeface="DejaVu Sans Light"/>
                <a:sym typeface="DejaVu Sans Light"/>
              </a:rPr>
              <a:t>S.Y. 2026–2027 | First Semester</a:t>
            </a:r>
          </a:p>
        </p:txBody>
      </p:sp>
      <p:sp>
        <p:nvSpPr>
          <p:cNvPr name="TextBox 20" id="20"/>
          <p:cNvSpPr txBox="true"/>
          <p:nvPr/>
        </p:nvSpPr>
        <p:spPr>
          <a:xfrm rot="0">
            <a:off x="1144610" y="1623536"/>
            <a:ext cx="5376405" cy="225209"/>
          </a:xfrm>
          <a:prstGeom prst="rect">
            <a:avLst/>
          </a:prstGeom>
        </p:spPr>
        <p:txBody>
          <a:bodyPr anchor="t" rtlCol="false" tIns="0" lIns="0" bIns="0" rIns="0">
            <a:spAutoFit/>
          </a:bodyPr>
          <a:lstStyle/>
          <a:p>
            <a:pPr algn="l">
              <a:lnSpc>
                <a:spcPts val="1819"/>
              </a:lnSpc>
            </a:pPr>
            <a:r>
              <a:rPr lang="en-US" b="true" sz="1299">
                <a:solidFill>
                  <a:srgbClr val="182533"/>
                </a:solidFill>
                <a:latin typeface="DejaVu Sans Bold"/>
                <a:ea typeface="DejaVu Sans Bold"/>
                <a:cs typeface="DejaVu Sans Bold"/>
                <a:sym typeface="DejaVu Sans Bold"/>
              </a:rPr>
              <a:t>ITE 366 Introduction to Computing | Period 2 Checkpoint</a:t>
            </a:r>
          </a:p>
        </p:txBody>
      </p:sp>
      <p:sp>
        <p:nvSpPr>
          <p:cNvPr name="TextBox 21" id="21"/>
          <p:cNvSpPr txBox="true"/>
          <p:nvPr/>
        </p:nvSpPr>
        <p:spPr>
          <a:xfrm rot="0">
            <a:off x="3637036" y="1849117"/>
            <a:ext cx="54121" cy="210083"/>
          </a:xfrm>
          <a:prstGeom prst="rect">
            <a:avLst/>
          </a:prstGeom>
        </p:spPr>
        <p:txBody>
          <a:bodyPr anchor="t" rtlCol="false" tIns="0" lIns="0" bIns="0" rIns="0">
            <a:spAutoFit/>
          </a:bodyPr>
          <a:lstStyle/>
          <a:p>
            <a:pPr algn="l">
              <a:lnSpc>
                <a:spcPts val="1679"/>
              </a:lnSpc>
            </a:pPr>
            <a:r>
              <a:rPr lang="en-US" b="true" sz="1200">
                <a:solidFill>
                  <a:srgbClr val="182533"/>
                </a:solidFill>
                <a:latin typeface="DejaVu Sans Bold"/>
                <a:ea typeface="DejaVu Sans Bold"/>
                <a:cs typeface="DejaVu Sans Bold"/>
                <a:sym typeface="DejaVu Sans Bold"/>
              </a:rPr>
              <a:t> </a:t>
            </a:r>
          </a:p>
        </p:txBody>
      </p:sp>
      <p:sp>
        <p:nvSpPr>
          <p:cNvPr name="TextBox 22" id="22"/>
          <p:cNvSpPr txBox="true"/>
          <p:nvPr/>
        </p:nvSpPr>
        <p:spPr>
          <a:xfrm rot="0">
            <a:off x="2629672" y="1849117"/>
            <a:ext cx="2346512" cy="210083"/>
          </a:xfrm>
          <a:prstGeom prst="rect">
            <a:avLst/>
          </a:prstGeom>
        </p:spPr>
        <p:txBody>
          <a:bodyPr anchor="t" rtlCol="false" tIns="0" lIns="0" bIns="0" rIns="0">
            <a:spAutoFit/>
          </a:bodyPr>
          <a:lstStyle/>
          <a:p>
            <a:pPr algn="l">
              <a:lnSpc>
                <a:spcPts val="1679"/>
              </a:lnSpc>
            </a:pPr>
            <a:r>
              <a:rPr lang="en-US" b="true" sz="1200">
                <a:solidFill>
                  <a:srgbClr val="182533"/>
                </a:solidFill>
                <a:latin typeface="DejaVu Sans Bold"/>
                <a:ea typeface="DejaVu Sans Bold"/>
                <a:cs typeface="DejaVu Sans Bold"/>
                <a:sym typeface="DejaVu Sans Bold"/>
              </a:rPr>
              <a:t>INDIVIDUAL</a:t>
            </a:r>
            <a:r>
              <a:rPr lang="en-US" b="true" sz="1200">
                <a:solidFill>
                  <a:srgbClr val="000000"/>
                </a:solidFill>
                <a:latin typeface="DejaVu Sans Bold"/>
                <a:ea typeface="DejaVu Sans Bold"/>
                <a:cs typeface="DejaVu Sans Bold"/>
                <a:sym typeface="DejaVu Sans Bold"/>
              </a:rPr>
              <a:t> </a:t>
            </a:r>
            <a:r>
              <a:rPr lang="en-US" b="true" sz="1200">
                <a:solidFill>
                  <a:srgbClr val="182533"/>
                </a:solidFill>
                <a:latin typeface="DejaVu Sans Bold"/>
                <a:ea typeface="DejaVu Sans Bold"/>
                <a:cs typeface="DejaVu Sans Bold"/>
                <a:sym typeface="DejaVu Sans Bold"/>
              </a:rPr>
              <a:t>REQUIREMENT</a:t>
            </a:r>
          </a:p>
        </p:txBody>
      </p:sp>
      <p:sp>
        <p:nvSpPr>
          <p:cNvPr name="TextBox 23" id="23"/>
          <p:cNvSpPr txBox="true"/>
          <p:nvPr/>
        </p:nvSpPr>
        <p:spPr>
          <a:xfrm rot="0">
            <a:off x="2096538" y="2302831"/>
            <a:ext cx="3434524" cy="249860"/>
          </a:xfrm>
          <a:prstGeom prst="rect">
            <a:avLst/>
          </a:prstGeom>
        </p:spPr>
        <p:txBody>
          <a:bodyPr anchor="t" rtlCol="false" tIns="0" lIns="0" bIns="0" rIns="0">
            <a:spAutoFit/>
          </a:bodyPr>
          <a:lstStyle/>
          <a:p>
            <a:pPr algn="ctr">
              <a:lnSpc>
                <a:spcPts val="1960"/>
              </a:lnSpc>
            </a:pPr>
            <a:r>
              <a:rPr lang="en-US" b="true" sz="1400">
                <a:solidFill>
                  <a:srgbClr val="182533"/>
                </a:solidFill>
                <a:latin typeface="DejaVu Sans Bold"/>
                <a:ea typeface="DejaVu Sans Bold"/>
                <a:cs typeface="DejaVu Sans Bold"/>
                <a:sym typeface="DejaVu Sans Bold"/>
              </a:rPr>
              <a:t>Professional Application Portfolio</a:t>
            </a:r>
          </a:p>
        </p:txBody>
      </p:sp>
      <p:sp>
        <p:nvSpPr>
          <p:cNvPr name="TextBox 24" id="24"/>
          <p:cNvSpPr txBox="true"/>
          <p:nvPr/>
        </p:nvSpPr>
        <p:spPr>
          <a:xfrm rot="0">
            <a:off x="3316586" y="3275009"/>
            <a:ext cx="945366" cy="170307"/>
          </a:xfrm>
          <a:prstGeom prst="rect">
            <a:avLst/>
          </a:prstGeom>
        </p:spPr>
        <p:txBody>
          <a:bodyPr anchor="t" rtlCol="false" tIns="0" lIns="0" bIns="0" rIns="0">
            <a:spAutoFit/>
          </a:bodyPr>
          <a:lstStyle/>
          <a:p>
            <a:pPr algn="l">
              <a:lnSpc>
                <a:spcPts val="1399"/>
              </a:lnSpc>
            </a:pPr>
            <a:r>
              <a:rPr lang="en-US" b="true" sz="999">
                <a:solidFill>
                  <a:srgbClr val="182533"/>
                </a:solidFill>
                <a:latin typeface="DejaVu Sans Bold"/>
                <a:ea typeface="DejaVu Sans Bold"/>
                <a:cs typeface="DejaVu Sans Bold"/>
                <a:sym typeface="DejaVu Sans Bold"/>
              </a:rPr>
              <a:t>Prepared by:</a:t>
            </a:r>
          </a:p>
        </p:txBody>
      </p:sp>
      <p:sp>
        <p:nvSpPr>
          <p:cNvPr name="TextBox 25" id="25"/>
          <p:cNvSpPr txBox="true"/>
          <p:nvPr/>
        </p:nvSpPr>
        <p:spPr>
          <a:xfrm rot="0">
            <a:off x="1968503" y="3592516"/>
            <a:ext cx="2123827" cy="170307"/>
          </a:xfrm>
          <a:prstGeom prst="rect">
            <a:avLst/>
          </a:prstGeom>
        </p:spPr>
        <p:txBody>
          <a:bodyPr anchor="t" rtlCol="false" tIns="0" lIns="0" bIns="0" rIns="0">
            <a:spAutoFit/>
          </a:bodyPr>
          <a:lstStyle/>
          <a:p>
            <a:pPr algn="just">
              <a:lnSpc>
                <a:spcPts val="1399"/>
              </a:lnSpc>
            </a:pPr>
            <a:r>
              <a:rPr lang="en-US" b="true" sz="999">
                <a:solidFill>
                  <a:srgbClr val="182533"/>
                </a:solidFill>
                <a:latin typeface="DejaVu Sans Bold"/>
                <a:ea typeface="DejaVu Sans Bold"/>
                <a:cs typeface="DejaVu Sans Bold"/>
                <a:sym typeface="DejaVu Sans Bold"/>
              </a:rPr>
              <a:t>Name: Randy L. Pangilinan Jr</a:t>
            </a:r>
          </a:p>
        </p:txBody>
      </p:sp>
      <p:sp>
        <p:nvSpPr>
          <p:cNvPr name="TextBox 26" id="26"/>
          <p:cNvSpPr txBox="true"/>
          <p:nvPr/>
        </p:nvSpPr>
        <p:spPr>
          <a:xfrm rot="0">
            <a:off x="3038370" y="5281612"/>
            <a:ext cx="1512922" cy="465049"/>
          </a:xfrm>
          <a:prstGeom prst="rect">
            <a:avLst/>
          </a:prstGeom>
        </p:spPr>
        <p:txBody>
          <a:bodyPr anchor="t" rtlCol="false" tIns="0" lIns="0" bIns="0" rIns="0">
            <a:spAutoFit/>
          </a:bodyPr>
          <a:lstStyle/>
          <a:p>
            <a:pPr algn="ctr">
              <a:lnSpc>
                <a:spcPts val="1399"/>
              </a:lnSpc>
            </a:pPr>
            <a:r>
              <a:rPr lang="en-US" b="true" sz="999">
                <a:solidFill>
                  <a:srgbClr val="182533"/>
                </a:solidFill>
                <a:latin typeface="DejaVu Sans Bold"/>
                <a:ea typeface="DejaVu Sans Bold"/>
                <a:cs typeface="DejaVu Sans Bold"/>
                <a:sym typeface="DejaVu Sans Bold"/>
              </a:rPr>
              <a:t>Submitted to:</a:t>
            </a:r>
          </a:p>
          <a:p>
            <a:pPr algn="ctr">
              <a:lnSpc>
                <a:spcPts val="1470"/>
              </a:lnSpc>
            </a:pPr>
            <a:r>
              <a:rPr lang="en-US" b="true" sz="1050">
                <a:solidFill>
                  <a:srgbClr val="182533"/>
                </a:solidFill>
                <a:latin typeface="DejaVu Sans Bold"/>
                <a:ea typeface="DejaVu Sans Bold"/>
                <a:cs typeface="DejaVu Sans Bold"/>
                <a:sym typeface="DejaVu Sans Bold"/>
              </a:rPr>
              <a:t>Jericho C. Bernando</a:t>
            </a:r>
          </a:p>
        </p:txBody>
      </p:sp>
      <p:sp>
        <p:nvSpPr>
          <p:cNvPr name="TextBox 27" id="27"/>
          <p:cNvSpPr txBox="true"/>
          <p:nvPr/>
        </p:nvSpPr>
        <p:spPr>
          <a:xfrm rot="0">
            <a:off x="2222278" y="10227059"/>
            <a:ext cx="3178159" cy="142018"/>
          </a:xfrm>
          <a:prstGeom prst="rect">
            <a:avLst/>
          </a:prstGeom>
        </p:spPr>
        <p:txBody>
          <a:bodyPr anchor="t" rtlCol="false" tIns="0" lIns="0" bIns="0" rIns="0">
            <a:spAutoFit/>
          </a:bodyPr>
          <a:lstStyle/>
          <a:p>
            <a:pPr algn="l">
              <a:lnSpc>
                <a:spcPts val="1050"/>
              </a:lnSpc>
            </a:pPr>
            <a:r>
              <a:rPr lang="en-US" sz="750">
                <a:solidFill>
                  <a:srgbClr val="5E6872"/>
                </a:solidFill>
                <a:latin typeface="DejaVu Sans Light"/>
                <a:ea typeface="DejaVu Sans Light"/>
                <a:cs typeface="DejaVu Sans Light"/>
                <a:sym typeface="DejaVu Sans Light"/>
              </a:rPr>
              <a:t>ITE 366 Introduction to Computing | Period 2 Checkpoint | Page 1</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286000" y="6370320"/>
            <a:ext cx="1460497" cy="10163"/>
            <a:chOff x="0" y="0"/>
            <a:chExt cx="1460500" cy="10160"/>
          </a:xfrm>
        </p:grpSpPr>
        <p:sp>
          <p:nvSpPr>
            <p:cNvPr name="Freeform 3" id="3"/>
            <p:cNvSpPr/>
            <p:nvPr/>
          </p:nvSpPr>
          <p:spPr>
            <a:xfrm flipH="false" flipV="false" rot="0">
              <a:off x="0" y="0"/>
              <a:ext cx="1460500" cy="10160"/>
            </a:xfrm>
            <a:custGeom>
              <a:avLst/>
              <a:gdLst/>
              <a:ahLst/>
              <a:cxnLst/>
              <a:rect r="r" b="b" t="t" l="l"/>
              <a:pathLst>
                <a:path h="10160" w="1460500">
                  <a:moveTo>
                    <a:pt x="0" y="0"/>
                  </a:moveTo>
                  <a:lnTo>
                    <a:pt x="1460500" y="0"/>
                  </a:lnTo>
                  <a:lnTo>
                    <a:pt x="1460500" y="10160"/>
                  </a:lnTo>
                  <a:lnTo>
                    <a:pt x="0" y="10160"/>
                  </a:lnTo>
                  <a:close/>
                </a:path>
              </a:pathLst>
            </a:custGeom>
            <a:solidFill>
              <a:srgbClr val="D9E2EE"/>
            </a:solidFill>
          </p:spPr>
        </p:sp>
      </p:grpSp>
      <p:grpSp>
        <p:nvGrpSpPr>
          <p:cNvPr name="Group 4" id="4"/>
          <p:cNvGrpSpPr/>
          <p:nvPr/>
        </p:nvGrpSpPr>
        <p:grpSpPr>
          <a:xfrm rot="0">
            <a:off x="888997" y="1233173"/>
            <a:ext cx="5781999" cy="22860"/>
            <a:chOff x="0" y="0"/>
            <a:chExt cx="5782005" cy="22860"/>
          </a:xfrm>
        </p:grpSpPr>
        <p:sp>
          <p:nvSpPr>
            <p:cNvPr name="Freeform 5" id="5"/>
            <p:cNvSpPr/>
            <p:nvPr/>
          </p:nvSpPr>
          <p:spPr>
            <a:xfrm flipH="false" flipV="false" rot="0">
              <a:off x="0" y="0"/>
              <a:ext cx="5782061" cy="22860"/>
            </a:xfrm>
            <a:custGeom>
              <a:avLst/>
              <a:gdLst/>
              <a:ahLst/>
              <a:cxnLst/>
              <a:rect r="r" b="b" t="t" l="l"/>
              <a:pathLst>
                <a:path h="22860" w="5782061">
                  <a:moveTo>
                    <a:pt x="0" y="0"/>
                  </a:moveTo>
                  <a:lnTo>
                    <a:pt x="5782061" y="0"/>
                  </a:lnTo>
                  <a:lnTo>
                    <a:pt x="5782061" y="22860"/>
                  </a:lnTo>
                  <a:lnTo>
                    <a:pt x="0" y="22860"/>
                  </a:lnTo>
                  <a:close/>
                </a:path>
              </a:pathLst>
            </a:custGeom>
            <a:solidFill>
              <a:srgbClr val="1D5FA7"/>
            </a:solidFill>
          </p:spPr>
        </p:sp>
      </p:grpSp>
      <p:grpSp>
        <p:nvGrpSpPr>
          <p:cNvPr name="Group 6" id="6"/>
          <p:cNvGrpSpPr/>
          <p:nvPr/>
        </p:nvGrpSpPr>
        <p:grpSpPr>
          <a:xfrm rot="0">
            <a:off x="888997" y="1639567"/>
            <a:ext cx="5781999" cy="22860"/>
            <a:chOff x="0" y="0"/>
            <a:chExt cx="5782005" cy="22860"/>
          </a:xfrm>
        </p:grpSpPr>
        <p:sp>
          <p:nvSpPr>
            <p:cNvPr name="Freeform 7" id="7"/>
            <p:cNvSpPr/>
            <p:nvPr/>
          </p:nvSpPr>
          <p:spPr>
            <a:xfrm flipH="false" flipV="false" rot="0">
              <a:off x="0" y="0"/>
              <a:ext cx="5782061" cy="22860"/>
            </a:xfrm>
            <a:custGeom>
              <a:avLst/>
              <a:gdLst/>
              <a:ahLst/>
              <a:cxnLst/>
              <a:rect r="r" b="b" t="t" l="l"/>
              <a:pathLst>
                <a:path h="22860" w="5782061">
                  <a:moveTo>
                    <a:pt x="0" y="0"/>
                  </a:moveTo>
                  <a:lnTo>
                    <a:pt x="5782061" y="0"/>
                  </a:lnTo>
                  <a:lnTo>
                    <a:pt x="5782061" y="22860"/>
                  </a:lnTo>
                  <a:lnTo>
                    <a:pt x="0" y="22860"/>
                  </a:lnTo>
                  <a:close/>
                </a:path>
              </a:pathLst>
            </a:custGeom>
            <a:solidFill>
              <a:srgbClr val="1D5FA7"/>
            </a:solidFill>
          </p:spPr>
        </p:sp>
      </p:grpSp>
      <p:sp>
        <p:nvSpPr>
          <p:cNvPr name="Freeform 8" id="8"/>
          <p:cNvSpPr/>
          <p:nvPr/>
        </p:nvSpPr>
        <p:spPr>
          <a:xfrm flipH="false" flipV="false" rot="0">
            <a:off x="820417" y="2090423"/>
            <a:ext cx="5919159" cy="962663"/>
          </a:xfrm>
          <a:custGeom>
            <a:avLst/>
            <a:gdLst/>
            <a:ahLst/>
            <a:cxnLst/>
            <a:rect r="r" b="b" t="t" l="l"/>
            <a:pathLst>
              <a:path h="962663" w="5919159">
                <a:moveTo>
                  <a:pt x="0" y="0"/>
                </a:moveTo>
                <a:lnTo>
                  <a:pt x="5919159" y="0"/>
                </a:lnTo>
                <a:lnTo>
                  <a:pt x="5919159" y="962663"/>
                </a:lnTo>
                <a:lnTo>
                  <a:pt x="0" y="96266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888997" y="10154155"/>
            <a:ext cx="5781999" cy="8887"/>
            <a:chOff x="0" y="0"/>
            <a:chExt cx="5782005" cy="8890"/>
          </a:xfrm>
        </p:grpSpPr>
        <p:sp>
          <p:nvSpPr>
            <p:cNvPr name="Freeform 10" id="10"/>
            <p:cNvSpPr/>
            <p:nvPr/>
          </p:nvSpPr>
          <p:spPr>
            <a:xfrm flipH="false" flipV="false" rot="0">
              <a:off x="0" y="0"/>
              <a:ext cx="5782061" cy="8890"/>
            </a:xfrm>
            <a:custGeom>
              <a:avLst/>
              <a:gdLst/>
              <a:ahLst/>
              <a:cxnLst/>
              <a:rect r="r" b="b" t="t" l="l"/>
              <a:pathLst>
                <a:path h="8890" w="5782061">
                  <a:moveTo>
                    <a:pt x="0" y="0"/>
                  </a:moveTo>
                  <a:lnTo>
                    <a:pt x="5782061" y="0"/>
                  </a:lnTo>
                  <a:lnTo>
                    <a:pt x="5782061" y="8890"/>
                  </a:lnTo>
                  <a:lnTo>
                    <a:pt x="0" y="8890"/>
                  </a:lnTo>
                  <a:close/>
                </a:path>
              </a:pathLst>
            </a:custGeom>
            <a:solidFill>
              <a:srgbClr val="D9E2EE"/>
            </a:solidFill>
          </p:spPr>
        </p:sp>
      </p:grpSp>
      <p:grpSp>
        <p:nvGrpSpPr>
          <p:cNvPr name="Group 11" id="11"/>
          <p:cNvGrpSpPr/>
          <p:nvPr/>
        </p:nvGrpSpPr>
        <p:grpSpPr>
          <a:xfrm rot="0">
            <a:off x="1714500" y="1988820"/>
            <a:ext cx="4956496" cy="10163"/>
            <a:chOff x="0" y="0"/>
            <a:chExt cx="4956505" cy="10160"/>
          </a:xfrm>
        </p:grpSpPr>
        <p:sp>
          <p:nvSpPr>
            <p:cNvPr name="Freeform 12" id="12"/>
            <p:cNvSpPr/>
            <p:nvPr/>
          </p:nvSpPr>
          <p:spPr>
            <a:xfrm flipH="false" flipV="false" rot="0">
              <a:off x="0" y="0"/>
              <a:ext cx="4956561" cy="10160"/>
            </a:xfrm>
            <a:custGeom>
              <a:avLst/>
              <a:gdLst/>
              <a:ahLst/>
              <a:cxnLst/>
              <a:rect r="r" b="b" t="t" l="l"/>
              <a:pathLst>
                <a:path h="10160" w="4956561">
                  <a:moveTo>
                    <a:pt x="0" y="0"/>
                  </a:moveTo>
                  <a:lnTo>
                    <a:pt x="4956561" y="0"/>
                  </a:lnTo>
                  <a:lnTo>
                    <a:pt x="4956561" y="10160"/>
                  </a:lnTo>
                  <a:lnTo>
                    <a:pt x="0" y="10160"/>
                  </a:lnTo>
                  <a:close/>
                </a:path>
              </a:pathLst>
            </a:custGeom>
            <a:solidFill>
              <a:srgbClr val="D9E2EE"/>
            </a:solidFill>
          </p:spPr>
        </p:sp>
      </p:grpSp>
      <p:grpSp>
        <p:nvGrpSpPr>
          <p:cNvPr name="Group 13" id="13"/>
          <p:cNvGrpSpPr/>
          <p:nvPr/>
        </p:nvGrpSpPr>
        <p:grpSpPr>
          <a:xfrm rot="0">
            <a:off x="2730503" y="5417820"/>
            <a:ext cx="3940502" cy="10163"/>
            <a:chOff x="0" y="0"/>
            <a:chExt cx="3940505" cy="10160"/>
          </a:xfrm>
        </p:grpSpPr>
        <p:sp>
          <p:nvSpPr>
            <p:cNvPr name="Freeform 14" id="14"/>
            <p:cNvSpPr/>
            <p:nvPr/>
          </p:nvSpPr>
          <p:spPr>
            <a:xfrm flipH="false" flipV="false" rot="0">
              <a:off x="0" y="0"/>
              <a:ext cx="3940561" cy="10160"/>
            </a:xfrm>
            <a:custGeom>
              <a:avLst/>
              <a:gdLst/>
              <a:ahLst/>
              <a:cxnLst/>
              <a:rect r="r" b="b" t="t" l="l"/>
              <a:pathLst>
                <a:path h="10160" w="3940561">
                  <a:moveTo>
                    <a:pt x="0" y="0"/>
                  </a:moveTo>
                  <a:lnTo>
                    <a:pt x="3940561" y="0"/>
                  </a:lnTo>
                  <a:lnTo>
                    <a:pt x="3940561" y="10160"/>
                  </a:lnTo>
                  <a:lnTo>
                    <a:pt x="0" y="10160"/>
                  </a:lnTo>
                  <a:close/>
                </a:path>
              </a:pathLst>
            </a:custGeom>
            <a:solidFill>
              <a:srgbClr val="D9E2EE"/>
            </a:solidFill>
          </p:spPr>
        </p:sp>
      </p:grpSp>
      <p:grpSp>
        <p:nvGrpSpPr>
          <p:cNvPr name="Group 15" id="15"/>
          <p:cNvGrpSpPr/>
          <p:nvPr/>
        </p:nvGrpSpPr>
        <p:grpSpPr>
          <a:xfrm rot="0">
            <a:off x="3365497" y="3284220"/>
            <a:ext cx="3305499" cy="10163"/>
            <a:chOff x="0" y="0"/>
            <a:chExt cx="3305505" cy="10160"/>
          </a:xfrm>
        </p:grpSpPr>
        <p:sp>
          <p:nvSpPr>
            <p:cNvPr name="Freeform 16" id="16"/>
            <p:cNvSpPr/>
            <p:nvPr/>
          </p:nvSpPr>
          <p:spPr>
            <a:xfrm flipH="false" flipV="false" rot="0">
              <a:off x="0" y="0"/>
              <a:ext cx="3305561" cy="10160"/>
            </a:xfrm>
            <a:custGeom>
              <a:avLst/>
              <a:gdLst/>
              <a:ahLst/>
              <a:cxnLst/>
              <a:rect r="r" b="b" t="t" l="l"/>
              <a:pathLst>
                <a:path h="10160" w="3305561">
                  <a:moveTo>
                    <a:pt x="0" y="0"/>
                  </a:moveTo>
                  <a:lnTo>
                    <a:pt x="3305561" y="0"/>
                  </a:lnTo>
                  <a:lnTo>
                    <a:pt x="3305561" y="10160"/>
                  </a:lnTo>
                  <a:lnTo>
                    <a:pt x="0" y="10160"/>
                  </a:lnTo>
                  <a:close/>
                </a:path>
              </a:pathLst>
            </a:custGeom>
            <a:solidFill>
              <a:srgbClr val="D9E2EE"/>
            </a:solidFill>
          </p:spPr>
        </p:sp>
      </p:grpSp>
      <p:grpSp>
        <p:nvGrpSpPr>
          <p:cNvPr name="Group 17" id="17"/>
          <p:cNvGrpSpPr/>
          <p:nvPr/>
        </p:nvGrpSpPr>
        <p:grpSpPr>
          <a:xfrm rot="0">
            <a:off x="5651497" y="6370320"/>
            <a:ext cx="1019499" cy="10163"/>
            <a:chOff x="0" y="0"/>
            <a:chExt cx="1019505" cy="10160"/>
          </a:xfrm>
        </p:grpSpPr>
        <p:sp>
          <p:nvSpPr>
            <p:cNvPr name="Freeform 18" id="18"/>
            <p:cNvSpPr/>
            <p:nvPr/>
          </p:nvSpPr>
          <p:spPr>
            <a:xfrm flipH="false" flipV="false" rot="0">
              <a:off x="0" y="0"/>
              <a:ext cx="1019561" cy="10160"/>
            </a:xfrm>
            <a:custGeom>
              <a:avLst/>
              <a:gdLst/>
              <a:ahLst/>
              <a:cxnLst/>
              <a:rect r="r" b="b" t="t" l="l"/>
              <a:pathLst>
                <a:path h="10160" w="1019561">
                  <a:moveTo>
                    <a:pt x="0" y="0"/>
                  </a:moveTo>
                  <a:lnTo>
                    <a:pt x="1019561" y="0"/>
                  </a:lnTo>
                  <a:lnTo>
                    <a:pt x="1019561" y="10160"/>
                  </a:lnTo>
                  <a:lnTo>
                    <a:pt x="0" y="10160"/>
                  </a:lnTo>
                  <a:close/>
                </a:path>
              </a:pathLst>
            </a:custGeom>
            <a:solidFill>
              <a:srgbClr val="D9E2EE"/>
            </a:solidFill>
          </p:spPr>
        </p:sp>
      </p:grpSp>
      <p:sp>
        <p:nvSpPr>
          <p:cNvPr name="Freeform 19" id="19"/>
          <p:cNvSpPr/>
          <p:nvPr/>
        </p:nvSpPr>
        <p:spPr>
          <a:xfrm flipH="false" flipV="false" rot="0">
            <a:off x="5510056" y="47902"/>
            <a:ext cx="1804768" cy="2248240"/>
          </a:xfrm>
          <a:custGeom>
            <a:avLst/>
            <a:gdLst/>
            <a:ahLst/>
            <a:cxnLst/>
            <a:rect r="r" b="b" t="t" l="l"/>
            <a:pathLst>
              <a:path h="2248240" w="1804768">
                <a:moveTo>
                  <a:pt x="0" y="0"/>
                </a:moveTo>
                <a:lnTo>
                  <a:pt x="1804768" y="0"/>
                </a:lnTo>
                <a:lnTo>
                  <a:pt x="1804768" y="2248241"/>
                </a:lnTo>
                <a:lnTo>
                  <a:pt x="0" y="2248241"/>
                </a:lnTo>
                <a:lnTo>
                  <a:pt x="0" y="0"/>
                </a:lnTo>
                <a:close/>
              </a:path>
            </a:pathLst>
          </a:custGeom>
          <a:blipFill>
            <a:blip r:embed="rId4"/>
            <a:stretch>
              <a:fillRect l="0" t="-5003" r="0" b="-5003"/>
            </a:stretch>
          </a:blipFill>
        </p:spPr>
      </p:sp>
      <p:sp>
        <p:nvSpPr>
          <p:cNvPr name="TextBox 20" id="20"/>
          <p:cNvSpPr txBox="true"/>
          <p:nvPr/>
        </p:nvSpPr>
        <p:spPr>
          <a:xfrm rot="0">
            <a:off x="888997" y="653729"/>
            <a:ext cx="4135717" cy="380390"/>
          </a:xfrm>
          <a:prstGeom prst="rect">
            <a:avLst/>
          </a:prstGeom>
        </p:spPr>
        <p:txBody>
          <a:bodyPr anchor="t" rtlCol="false" tIns="0" lIns="0" bIns="0" rIns="0">
            <a:spAutoFit/>
          </a:bodyPr>
          <a:lstStyle/>
          <a:p>
            <a:pPr algn="l">
              <a:lnSpc>
                <a:spcPts val="3079"/>
              </a:lnSpc>
            </a:pPr>
            <a:r>
              <a:rPr lang="en-US" b="true" sz="2199">
                <a:solidFill>
                  <a:srgbClr val="182533"/>
                </a:solidFill>
                <a:latin typeface="DejaVu Sans Bold"/>
                <a:ea typeface="DejaVu Sans Bold"/>
                <a:cs typeface="DejaVu Sans Bold"/>
                <a:sym typeface="DejaVu Sans Bold"/>
              </a:rPr>
              <a:t>RANDY L. PANGILINAN JR.</a:t>
            </a:r>
          </a:p>
        </p:txBody>
      </p:sp>
      <p:sp>
        <p:nvSpPr>
          <p:cNvPr name="TextBox 21" id="21"/>
          <p:cNvSpPr txBox="true"/>
          <p:nvPr/>
        </p:nvSpPr>
        <p:spPr>
          <a:xfrm rot="0">
            <a:off x="1484881" y="1001716"/>
            <a:ext cx="45101" cy="170307"/>
          </a:xfrm>
          <a:prstGeom prst="rect">
            <a:avLst/>
          </a:prstGeom>
        </p:spPr>
        <p:txBody>
          <a:bodyPr anchor="t" rtlCol="false" tIns="0" lIns="0" bIns="0" rIns="0">
            <a:spAutoFit/>
          </a:bodyPr>
          <a:lstStyle/>
          <a:p>
            <a:pPr algn="l">
              <a:lnSpc>
                <a:spcPts val="1399"/>
              </a:lnSpc>
            </a:pPr>
            <a:r>
              <a:rPr lang="en-US" b="true" sz="999">
                <a:solidFill>
                  <a:srgbClr val="1D5FA7"/>
                </a:solidFill>
                <a:latin typeface="DejaVu Sans Bold"/>
                <a:ea typeface="DejaVu Sans Bold"/>
                <a:cs typeface="DejaVu Sans Bold"/>
                <a:sym typeface="DejaVu Sans Bold"/>
              </a:rPr>
              <a:t> </a:t>
            </a:r>
          </a:p>
        </p:txBody>
      </p:sp>
      <p:sp>
        <p:nvSpPr>
          <p:cNvPr name="TextBox 22" id="22"/>
          <p:cNvSpPr txBox="true"/>
          <p:nvPr/>
        </p:nvSpPr>
        <p:spPr>
          <a:xfrm rot="0">
            <a:off x="888997" y="1001716"/>
            <a:ext cx="5160616" cy="170307"/>
          </a:xfrm>
          <a:prstGeom prst="rect">
            <a:avLst/>
          </a:prstGeom>
        </p:spPr>
        <p:txBody>
          <a:bodyPr anchor="t" rtlCol="false" tIns="0" lIns="0" bIns="0" rIns="0">
            <a:spAutoFit/>
          </a:bodyPr>
          <a:lstStyle/>
          <a:p>
            <a:pPr algn="l">
              <a:lnSpc>
                <a:spcPts val="1399"/>
              </a:lnSpc>
            </a:pPr>
            <a:r>
              <a:rPr lang="en-US" b="true" sz="999">
                <a:solidFill>
                  <a:srgbClr val="1D5FA7"/>
                </a:solidFill>
                <a:latin typeface="DejaVu Sans Bold"/>
                <a:ea typeface="DejaVu Sans Bold"/>
                <a:cs typeface="DejaVu Sans Bold"/>
                <a:sym typeface="DejaVu Sans Bold"/>
              </a:rPr>
              <a:t>AspiringITSupportIntern•BSITStudent•TechnicalSupport Interest</a:t>
            </a:r>
          </a:p>
        </p:txBody>
      </p:sp>
      <p:sp>
        <p:nvSpPr>
          <p:cNvPr name="TextBox 23" id="23"/>
          <p:cNvSpPr txBox="true"/>
          <p:nvPr/>
        </p:nvSpPr>
        <p:spPr>
          <a:xfrm rot="0">
            <a:off x="990600" y="5586603"/>
            <a:ext cx="407337" cy="152610"/>
          </a:xfrm>
          <a:prstGeom prst="rect">
            <a:avLst/>
          </a:prstGeom>
        </p:spPr>
        <p:txBody>
          <a:bodyPr anchor="t" rtlCol="false" tIns="0" lIns="0" bIns="0" rIns="0">
            <a:spAutoFit/>
          </a:bodyPr>
          <a:lstStyle/>
          <a:p>
            <a:pPr algn="l">
              <a:lnSpc>
                <a:spcPts val="1147"/>
              </a:lnSpc>
            </a:pPr>
            <a:r>
              <a:rPr lang="en-US" sz="819">
                <a:solidFill>
                  <a:srgbClr val="5E6872"/>
                </a:solidFill>
                <a:latin typeface="DejaVu Sans Light"/>
                <a:ea typeface="DejaVu Sans Light"/>
                <a:cs typeface="DejaVu Sans Light"/>
                <a:sym typeface="DejaVu Sans Light"/>
              </a:rPr>
              <a:t>• None </a:t>
            </a:r>
          </a:p>
        </p:txBody>
      </p:sp>
      <p:sp>
        <p:nvSpPr>
          <p:cNvPr name="TextBox 24" id="24"/>
          <p:cNvSpPr txBox="true"/>
          <p:nvPr/>
        </p:nvSpPr>
        <p:spPr>
          <a:xfrm rot="0">
            <a:off x="888997" y="1395603"/>
            <a:ext cx="1883445" cy="152610"/>
          </a:xfrm>
          <a:prstGeom prst="rect">
            <a:avLst/>
          </a:prstGeom>
        </p:spPr>
        <p:txBody>
          <a:bodyPr anchor="t" rtlCol="false" tIns="0" lIns="0" bIns="0" rIns="0">
            <a:spAutoFit/>
          </a:bodyPr>
          <a:lstStyle/>
          <a:p>
            <a:pPr algn="l">
              <a:lnSpc>
                <a:spcPts val="1147"/>
              </a:lnSpc>
            </a:pPr>
            <a:r>
              <a:rPr lang="en-US" sz="819">
                <a:solidFill>
                  <a:srgbClr val="5E6872"/>
                </a:solidFill>
                <a:latin typeface="DejaVu Sans Light"/>
                <a:ea typeface="DejaVu Sans Light"/>
                <a:cs typeface="DejaVu Sans Light"/>
                <a:sym typeface="DejaVu Sans Light"/>
              </a:rPr>
              <a:t>✉ pangilinanrandy781@gmail.com</a:t>
            </a:r>
          </a:p>
        </p:txBody>
      </p:sp>
      <p:sp>
        <p:nvSpPr>
          <p:cNvPr name="TextBox 25" id="25"/>
          <p:cNvSpPr txBox="true"/>
          <p:nvPr/>
        </p:nvSpPr>
        <p:spPr>
          <a:xfrm rot="0">
            <a:off x="3365497" y="1395603"/>
            <a:ext cx="1019766" cy="152610"/>
          </a:xfrm>
          <a:prstGeom prst="rect">
            <a:avLst/>
          </a:prstGeom>
        </p:spPr>
        <p:txBody>
          <a:bodyPr anchor="t" rtlCol="false" tIns="0" lIns="0" bIns="0" rIns="0">
            <a:spAutoFit/>
          </a:bodyPr>
          <a:lstStyle/>
          <a:p>
            <a:pPr algn="l">
              <a:lnSpc>
                <a:spcPts val="1147"/>
              </a:lnSpc>
            </a:pPr>
            <a:r>
              <a:rPr lang="en-US" sz="819">
                <a:solidFill>
                  <a:srgbClr val="5E6872"/>
                </a:solidFill>
                <a:latin typeface="DejaVu Sans Light"/>
                <a:ea typeface="DejaVu Sans Light"/>
                <a:cs typeface="DejaVu Sans Light"/>
                <a:sym typeface="DejaVu Sans Light"/>
              </a:rPr>
              <a:t>☎ 0935-495-1787</a:t>
            </a:r>
          </a:p>
        </p:txBody>
      </p:sp>
      <p:sp>
        <p:nvSpPr>
          <p:cNvPr name="TextBox 26" id="26"/>
          <p:cNvSpPr txBox="true"/>
          <p:nvPr/>
        </p:nvSpPr>
        <p:spPr>
          <a:xfrm rot="0">
            <a:off x="4824984" y="1395603"/>
            <a:ext cx="1838487" cy="152610"/>
          </a:xfrm>
          <a:prstGeom prst="rect">
            <a:avLst/>
          </a:prstGeom>
        </p:spPr>
        <p:txBody>
          <a:bodyPr anchor="t" rtlCol="false" tIns="0" lIns="0" bIns="0" rIns="0">
            <a:spAutoFit/>
          </a:bodyPr>
          <a:lstStyle/>
          <a:p>
            <a:pPr algn="l">
              <a:lnSpc>
                <a:spcPts val="1147"/>
              </a:lnSpc>
            </a:pPr>
            <a:r>
              <a:rPr lang="en-US" sz="819">
                <a:solidFill>
                  <a:srgbClr val="5E6872"/>
                </a:solidFill>
                <a:latin typeface="DejaVu Sans Light"/>
                <a:ea typeface="DejaVu Sans Light"/>
                <a:cs typeface="DejaVu Sans Light"/>
                <a:sym typeface="DejaVu Sans Light"/>
              </a:rPr>
              <a:t> Baloc, Sto. Domingo, Nueva Ecija</a:t>
            </a:r>
          </a:p>
        </p:txBody>
      </p:sp>
      <p:sp>
        <p:nvSpPr>
          <p:cNvPr name="TextBox 27" id="27"/>
          <p:cNvSpPr txBox="true"/>
          <p:nvPr/>
        </p:nvSpPr>
        <p:spPr>
          <a:xfrm rot="0">
            <a:off x="888997" y="1901742"/>
            <a:ext cx="643099" cy="187395"/>
          </a:xfrm>
          <a:prstGeom prst="rect">
            <a:avLst/>
          </a:prstGeom>
        </p:spPr>
        <p:txBody>
          <a:bodyPr anchor="t" rtlCol="false" tIns="0" lIns="0" bIns="0" rIns="0">
            <a:spAutoFit/>
          </a:bodyPr>
          <a:lstStyle/>
          <a:p>
            <a:pPr algn="l">
              <a:lnSpc>
                <a:spcPts val="1470"/>
              </a:lnSpc>
            </a:pPr>
            <a:r>
              <a:rPr lang="en-US" b="true" sz="1050">
                <a:solidFill>
                  <a:srgbClr val="182533"/>
                </a:solidFill>
                <a:latin typeface="DejaVu Sans Bold"/>
                <a:ea typeface="DejaVu Sans Bold"/>
                <a:cs typeface="DejaVu Sans Bold"/>
                <a:sym typeface="DejaVu Sans Bold"/>
              </a:rPr>
              <a:t>PROFILE</a:t>
            </a:r>
          </a:p>
        </p:txBody>
      </p:sp>
      <p:sp>
        <p:nvSpPr>
          <p:cNvPr name="TextBox 28" id="28"/>
          <p:cNvSpPr txBox="true"/>
          <p:nvPr/>
        </p:nvSpPr>
        <p:spPr>
          <a:xfrm rot="0">
            <a:off x="888997" y="6283242"/>
            <a:ext cx="2452811" cy="917543"/>
          </a:xfrm>
          <a:prstGeom prst="rect">
            <a:avLst/>
          </a:prstGeom>
        </p:spPr>
        <p:txBody>
          <a:bodyPr anchor="t" rtlCol="false" tIns="0" lIns="0" bIns="0" rIns="0">
            <a:spAutoFit/>
          </a:bodyPr>
          <a:lstStyle/>
          <a:p>
            <a:pPr algn="l">
              <a:lnSpc>
                <a:spcPts val="1425"/>
              </a:lnSpc>
            </a:pPr>
            <a:r>
              <a:rPr lang="en-US" b="true" sz="1050">
                <a:solidFill>
                  <a:srgbClr val="182533"/>
                </a:solidFill>
                <a:latin typeface="DejaVu Sans Bold"/>
                <a:ea typeface="DejaVu Sans Bold"/>
                <a:cs typeface="DejaVu Sans Bold"/>
                <a:sym typeface="DejaVu Sans Bold"/>
              </a:rPr>
              <a:t>TECHNICAL SKILLS</a:t>
            </a:r>
          </a:p>
          <a:p>
            <a:pPr algn="l">
              <a:lnSpc>
                <a:spcPts val="1099"/>
              </a:lnSpc>
            </a:pPr>
            <a:r>
              <a:rPr lang="en-US" sz="810">
                <a:solidFill>
                  <a:srgbClr val="5E6872"/>
                </a:solidFill>
                <a:latin typeface="DejaVu Sans Light"/>
                <a:ea typeface="DejaVu Sans Light"/>
                <a:cs typeface="DejaVu Sans Light"/>
                <a:sym typeface="DejaVu Sans Light"/>
              </a:rPr>
              <a:t>Programming: Python, Java, HTML/CSS</a:t>
            </a:r>
          </a:p>
          <a:p>
            <a:pPr algn="l">
              <a:lnSpc>
                <a:spcPts val="1099"/>
              </a:lnSpc>
            </a:pPr>
            <a:r>
              <a:rPr lang="en-US" sz="810">
                <a:solidFill>
                  <a:srgbClr val="5E6872"/>
                </a:solidFill>
                <a:latin typeface="DejaVu Sans Light"/>
                <a:ea typeface="DejaVu Sans Light"/>
                <a:cs typeface="DejaVu Sans Light"/>
                <a:sym typeface="DejaVu Sans Light"/>
              </a:rPr>
              <a:t>Tools: Git/GitHub, VS Code, Google Workspace Soft Skills: Problem Solving, Communication, Teamwork</a:t>
            </a:r>
          </a:p>
        </p:txBody>
      </p:sp>
      <p:sp>
        <p:nvSpPr>
          <p:cNvPr name="TextBox 29" id="29"/>
          <p:cNvSpPr txBox="true"/>
          <p:nvPr/>
        </p:nvSpPr>
        <p:spPr>
          <a:xfrm rot="0">
            <a:off x="888997" y="5330742"/>
            <a:ext cx="2149640" cy="187395"/>
          </a:xfrm>
          <a:prstGeom prst="rect">
            <a:avLst/>
          </a:prstGeom>
        </p:spPr>
        <p:txBody>
          <a:bodyPr anchor="t" rtlCol="false" tIns="0" lIns="0" bIns="0" rIns="0">
            <a:spAutoFit/>
          </a:bodyPr>
          <a:lstStyle/>
          <a:p>
            <a:pPr algn="l">
              <a:lnSpc>
                <a:spcPts val="1470"/>
              </a:lnSpc>
            </a:pPr>
            <a:r>
              <a:rPr lang="en-US" b="true" sz="1050">
                <a:solidFill>
                  <a:srgbClr val="182533"/>
                </a:solidFill>
                <a:latin typeface="DejaVu Sans Bold"/>
                <a:ea typeface="DejaVu Sans Bold"/>
                <a:cs typeface="DejaVu Sans Bold"/>
                <a:sym typeface="DejaVu Sans Bold"/>
              </a:rPr>
              <a:t>CERTIFICATIONS &amp; AWARDS</a:t>
            </a:r>
          </a:p>
        </p:txBody>
      </p:sp>
      <p:sp>
        <p:nvSpPr>
          <p:cNvPr name="TextBox 30" id="30"/>
          <p:cNvSpPr txBox="true"/>
          <p:nvPr/>
        </p:nvSpPr>
        <p:spPr>
          <a:xfrm rot="0">
            <a:off x="888997" y="3197142"/>
            <a:ext cx="2815428" cy="446189"/>
          </a:xfrm>
          <a:prstGeom prst="rect">
            <a:avLst/>
          </a:prstGeom>
        </p:spPr>
        <p:txBody>
          <a:bodyPr anchor="t" rtlCol="false" tIns="0" lIns="0" bIns="0" rIns="0">
            <a:spAutoFit/>
          </a:bodyPr>
          <a:lstStyle/>
          <a:p>
            <a:pPr algn="l">
              <a:lnSpc>
                <a:spcPts val="1470"/>
              </a:lnSpc>
            </a:pPr>
            <a:r>
              <a:rPr lang="en-US" b="true" sz="1050">
                <a:solidFill>
                  <a:srgbClr val="182533"/>
                </a:solidFill>
                <a:latin typeface="DejaVu Sans Bold"/>
                <a:ea typeface="DejaVu Sans Bold"/>
                <a:cs typeface="DejaVu Sans Bold"/>
                <a:sym typeface="DejaVu Sans Bold"/>
              </a:rPr>
              <a:t>PROJECTS &amp; TECHNICAL EXPERIENCE</a:t>
            </a:r>
          </a:p>
          <a:p>
            <a:pPr algn="l">
              <a:lnSpc>
                <a:spcPts val="1260"/>
              </a:lnSpc>
            </a:pPr>
            <a:r>
              <a:rPr lang="en-US" b="true" sz="900">
                <a:solidFill>
                  <a:srgbClr val="182533"/>
                </a:solidFill>
                <a:latin typeface="DejaVu Sans Bold"/>
                <a:ea typeface="DejaVu Sans Bold"/>
                <a:cs typeface="DejaVu Sans Bold"/>
                <a:sym typeface="DejaVu Sans Bold"/>
              </a:rPr>
              <a:t>Student IT Support Project</a:t>
            </a:r>
          </a:p>
        </p:txBody>
      </p:sp>
      <p:sp>
        <p:nvSpPr>
          <p:cNvPr name="TextBox 31" id="31"/>
          <p:cNvSpPr txBox="true"/>
          <p:nvPr/>
        </p:nvSpPr>
        <p:spPr>
          <a:xfrm rot="0">
            <a:off x="3936997" y="6283242"/>
            <a:ext cx="2555424" cy="917543"/>
          </a:xfrm>
          <a:prstGeom prst="rect">
            <a:avLst/>
          </a:prstGeom>
        </p:spPr>
        <p:txBody>
          <a:bodyPr anchor="t" rtlCol="false" tIns="0" lIns="0" bIns="0" rIns="0">
            <a:spAutoFit/>
          </a:bodyPr>
          <a:lstStyle/>
          <a:p>
            <a:pPr algn="l">
              <a:lnSpc>
                <a:spcPts val="1425"/>
              </a:lnSpc>
            </a:pPr>
            <a:r>
              <a:rPr lang="en-US" b="true" sz="1050">
                <a:solidFill>
                  <a:srgbClr val="182533"/>
                </a:solidFill>
                <a:latin typeface="DejaVu Sans Bold"/>
                <a:ea typeface="DejaVu Sans Bold"/>
                <a:cs typeface="DejaVu Sans Bold"/>
                <a:sym typeface="DejaVu Sans Bold"/>
              </a:rPr>
              <a:t>REMOTE / WORK TOOLS</a:t>
            </a:r>
          </a:p>
          <a:p>
            <a:pPr algn="l">
              <a:lnSpc>
                <a:spcPts val="1099"/>
              </a:lnSpc>
            </a:pPr>
            <a:r>
              <a:rPr lang="en-US" sz="810">
                <a:solidFill>
                  <a:srgbClr val="5E6872"/>
                </a:solidFill>
                <a:latin typeface="DejaVu Sans Light"/>
                <a:ea typeface="DejaVu Sans Light"/>
                <a:cs typeface="DejaVu Sans Light"/>
                <a:sym typeface="DejaVu Sans Light"/>
              </a:rPr>
              <a:t>• Personal laptop and stable internet access</a:t>
            </a:r>
          </a:p>
          <a:p>
            <a:pPr algn="l">
              <a:lnSpc>
                <a:spcPts val="1099"/>
              </a:lnSpc>
            </a:pPr>
            <a:r>
              <a:rPr lang="en-US" sz="810">
                <a:solidFill>
                  <a:srgbClr val="5E6872"/>
                </a:solidFill>
                <a:latin typeface="DejaVu Sans Light"/>
                <a:ea typeface="DejaVu Sans Light"/>
                <a:cs typeface="DejaVu Sans Light"/>
                <a:sym typeface="DejaVu Sans Light"/>
              </a:rPr>
              <a:t>• Google Meet, Zoom, Microsoft Teams</a:t>
            </a:r>
          </a:p>
          <a:p>
            <a:pPr algn="l">
              <a:lnSpc>
                <a:spcPts val="1099"/>
              </a:lnSpc>
            </a:pPr>
            <a:r>
              <a:rPr lang="en-US" sz="810">
                <a:solidFill>
                  <a:srgbClr val="5E6872"/>
                </a:solidFill>
                <a:latin typeface="DejaVu Sans Light"/>
                <a:ea typeface="DejaVu Sans Light"/>
                <a:cs typeface="DejaVu Sans Light"/>
                <a:sym typeface="DejaVu Sans Light"/>
              </a:rPr>
              <a:t>• Comfortable with remote collaboration and file sharing</a:t>
            </a:r>
          </a:p>
        </p:txBody>
      </p:sp>
      <p:sp>
        <p:nvSpPr>
          <p:cNvPr name="TextBox 32" id="32"/>
          <p:cNvSpPr txBox="true"/>
          <p:nvPr/>
        </p:nvSpPr>
        <p:spPr>
          <a:xfrm rot="0">
            <a:off x="1041397" y="2319976"/>
            <a:ext cx="5539168" cy="417500"/>
          </a:xfrm>
          <a:prstGeom prst="rect">
            <a:avLst/>
          </a:prstGeom>
        </p:spPr>
        <p:txBody>
          <a:bodyPr anchor="t" rtlCol="false" tIns="0" lIns="0" bIns="0" rIns="0">
            <a:spAutoFit/>
          </a:bodyPr>
          <a:lstStyle/>
          <a:p>
            <a:pPr algn="l">
              <a:lnSpc>
                <a:spcPts val="1099"/>
              </a:lnSpc>
            </a:pPr>
            <a:r>
              <a:rPr lang="en-US" sz="849">
                <a:solidFill>
                  <a:srgbClr val="5E6872"/>
                </a:solidFill>
                <a:latin typeface="DejaVu Sans Light"/>
                <a:ea typeface="DejaVu Sans Light"/>
                <a:cs typeface="DejaVu Sans Light"/>
                <a:sym typeface="DejaVu Sans Light"/>
              </a:rPr>
              <a:t>Motivated BSIT student seeking an internship opportunity to strengthen practical skills in technical support, software development, and information technology operations. Willing to learn, collaborate with a team, and apply classroom knowledge to real workplace tasks.</a:t>
            </a:r>
          </a:p>
        </p:txBody>
      </p:sp>
      <p:sp>
        <p:nvSpPr>
          <p:cNvPr name="TextBox 33" id="33"/>
          <p:cNvSpPr txBox="true"/>
          <p:nvPr/>
        </p:nvSpPr>
        <p:spPr>
          <a:xfrm rot="0">
            <a:off x="888997" y="4529299"/>
            <a:ext cx="2381155" cy="155181"/>
          </a:xfrm>
          <a:prstGeom prst="rect">
            <a:avLst/>
          </a:prstGeom>
        </p:spPr>
        <p:txBody>
          <a:bodyPr anchor="t" rtlCol="false" tIns="0" lIns="0" bIns="0" rIns="0">
            <a:spAutoFit/>
          </a:bodyPr>
          <a:lstStyle/>
          <a:p>
            <a:pPr algn="l">
              <a:lnSpc>
                <a:spcPts val="1260"/>
              </a:lnSpc>
            </a:pPr>
            <a:r>
              <a:rPr lang="en-US" b="true" sz="900">
                <a:solidFill>
                  <a:srgbClr val="182533"/>
                </a:solidFill>
                <a:latin typeface="DejaVu Sans Bold"/>
                <a:ea typeface="DejaVu Sans Bold"/>
                <a:cs typeface="DejaVu Sans Bold"/>
                <a:sym typeface="DejaVu Sans Bold"/>
              </a:rPr>
              <a:t>Simple Attendance Tracking System</a:t>
            </a:r>
          </a:p>
        </p:txBody>
      </p:sp>
      <p:sp>
        <p:nvSpPr>
          <p:cNvPr name="TextBox 34" id="34"/>
          <p:cNvSpPr txBox="true"/>
          <p:nvPr/>
        </p:nvSpPr>
        <p:spPr>
          <a:xfrm rot="0">
            <a:off x="6103068" y="3492913"/>
            <a:ext cx="579120" cy="149581"/>
          </a:xfrm>
          <a:prstGeom prst="rect">
            <a:avLst/>
          </a:prstGeom>
        </p:spPr>
        <p:txBody>
          <a:bodyPr anchor="t" rtlCol="false" tIns="0" lIns="0" bIns="0" rIns="0">
            <a:spAutoFit/>
          </a:bodyPr>
          <a:lstStyle/>
          <a:p>
            <a:pPr algn="l">
              <a:lnSpc>
                <a:spcPts val="1120"/>
              </a:lnSpc>
            </a:pPr>
            <a:r>
              <a:rPr lang="en-US" sz="800">
                <a:solidFill>
                  <a:srgbClr val="5E6872"/>
                </a:solidFill>
                <a:latin typeface="DejaVu Sans Light"/>
                <a:ea typeface="DejaVu Sans Light"/>
                <a:cs typeface="DejaVu Sans Light"/>
                <a:sym typeface="DejaVu Sans Light"/>
              </a:rPr>
              <a:t>2025–2026</a:t>
            </a:r>
          </a:p>
        </p:txBody>
      </p:sp>
      <p:sp>
        <p:nvSpPr>
          <p:cNvPr name="TextBox 35" id="35"/>
          <p:cNvSpPr txBox="true"/>
          <p:nvPr/>
        </p:nvSpPr>
        <p:spPr>
          <a:xfrm rot="0">
            <a:off x="6412440" y="4534319"/>
            <a:ext cx="263662" cy="149581"/>
          </a:xfrm>
          <a:prstGeom prst="rect">
            <a:avLst/>
          </a:prstGeom>
        </p:spPr>
        <p:txBody>
          <a:bodyPr anchor="t" rtlCol="false" tIns="0" lIns="0" bIns="0" rIns="0">
            <a:spAutoFit/>
          </a:bodyPr>
          <a:lstStyle/>
          <a:p>
            <a:pPr algn="l">
              <a:lnSpc>
                <a:spcPts val="1120"/>
              </a:lnSpc>
            </a:pPr>
            <a:r>
              <a:rPr lang="en-US" sz="800">
                <a:solidFill>
                  <a:srgbClr val="5E6872"/>
                </a:solidFill>
                <a:latin typeface="DejaVu Sans Light"/>
                <a:ea typeface="DejaVu Sans Light"/>
                <a:cs typeface="DejaVu Sans Light"/>
                <a:sym typeface="DejaVu Sans Light"/>
              </a:rPr>
              <a:t>2026</a:t>
            </a:r>
          </a:p>
        </p:txBody>
      </p:sp>
      <p:sp>
        <p:nvSpPr>
          <p:cNvPr name="TextBox 36" id="36"/>
          <p:cNvSpPr txBox="true"/>
          <p:nvPr/>
        </p:nvSpPr>
        <p:spPr>
          <a:xfrm rot="0">
            <a:off x="990600" y="4730258"/>
            <a:ext cx="3964981" cy="335242"/>
          </a:xfrm>
          <a:prstGeom prst="rect">
            <a:avLst/>
          </a:prstGeom>
        </p:spPr>
        <p:txBody>
          <a:bodyPr anchor="t" rtlCol="false" tIns="0" lIns="0" bIns="0" rIns="0">
            <a:spAutoFit/>
          </a:bodyPr>
          <a:lstStyle/>
          <a:p>
            <a:pPr algn="l">
              <a:lnSpc>
                <a:spcPts val="1300"/>
              </a:lnSpc>
            </a:pPr>
            <a:r>
              <a:rPr lang="en-US" sz="810">
                <a:solidFill>
                  <a:srgbClr val="5E6872"/>
                </a:solidFill>
                <a:latin typeface="DejaVu Sans Light"/>
                <a:ea typeface="DejaVu Sans Light"/>
                <a:cs typeface="DejaVu Sans Light"/>
                <a:sym typeface="DejaVu Sans Light"/>
              </a:rPr>
              <a:t>• Designed a basic attendance-record concept using structured data fields. • Applied logical organization of records for easier daily monitoring.</a:t>
            </a:r>
          </a:p>
        </p:txBody>
      </p:sp>
      <p:sp>
        <p:nvSpPr>
          <p:cNvPr name="TextBox 37" id="37"/>
          <p:cNvSpPr txBox="true"/>
          <p:nvPr/>
        </p:nvSpPr>
        <p:spPr>
          <a:xfrm rot="0">
            <a:off x="990600" y="3688861"/>
            <a:ext cx="4481541" cy="665445"/>
          </a:xfrm>
          <a:prstGeom prst="rect">
            <a:avLst/>
          </a:prstGeom>
        </p:spPr>
        <p:txBody>
          <a:bodyPr anchor="t" rtlCol="false" tIns="0" lIns="0" bIns="0" rIns="0">
            <a:spAutoFit/>
          </a:bodyPr>
          <a:lstStyle/>
          <a:p>
            <a:pPr algn="l">
              <a:lnSpc>
                <a:spcPts val="1300"/>
              </a:lnSpc>
            </a:pPr>
            <a:r>
              <a:rPr lang="en-US" sz="810">
                <a:solidFill>
                  <a:srgbClr val="5E6872"/>
                </a:solidFill>
                <a:latin typeface="DejaVu Sans Light"/>
                <a:ea typeface="DejaVu Sans Light"/>
                <a:cs typeface="DejaVu Sans Light"/>
                <a:sym typeface="DejaVu Sans Light"/>
              </a:rPr>
              <a:t>• Assisted classmates with basic software installation and computer troubleshooting. • Organized digital files and maintained structured records for school activities.</a:t>
            </a:r>
          </a:p>
          <a:p>
            <a:pPr algn="l">
              <a:lnSpc>
                <a:spcPts val="1300"/>
              </a:lnSpc>
            </a:pPr>
            <a:r>
              <a:rPr lang="en-US" sz="810">
                <a:solidFill>
                  <a:srgbClr val="5E6872"/>
                </a:solidFill>
                <a:latin typeface="DejaVu Sans Light"/>
                <a:ea typeface="DejaVu Sans Light"/>
                <a:cs typeface="DejaVu Sans Light"/>
                <a:sym typeface="DejaVu Sans Light"/>
              </a:rPr>
              <a:t>• Helped prepare computers and accounts for online classes and presentations.</a:t>
            </a:r>
          </a:p>
          <a:p>
            <a:pPr algn="l">
              <a:lnSpc>
                <a:spcPts val="1300"/>
              </a:lnSpc>
            </a:pPr>
            <a:r>
              <a:rPr lang="en-US" sz="810">
                <a:solidFill>
                  <a:srgbClr val="5E6872"/>
                </a:solidFill>
                <a:latin typeface="DejaVu Sans Light"/>
                <a:ea typeface="DejaVu Sans Light"/>
                <a:cs typeface="DejaVu Sans Light"/>
                <a:sym typeface="DejaVu Sans Light"/>
              </a:rPr>
              <a:t>• Practiced basic network checking and remote communication tools.</a:t>
            </a:r>
          </a:p>
        </p:txBody>
      </p:sp>
      <p:sp>
        <p:nvSpPr>
          <p:cNvPr name="TextBox 38" id="38"/>
          <p:cNvSpPr txBox="true"/>
          <p:nvPr/>
        </p:nvSpPr>
        <p:spPr>
          <a:xfrm rot="0">
            <a:off x="888997" y="10277856"/>
            <a:ext cx="1603277" cy="142018"/>
          </a:xfrm>
          <a:prstGeom prst="rect">
            <a:avLst/>
          </a:prstGeom>
        </p:spPr>
        <p:txBody>
          <a:bodyPr anchor="t" rtlCol="false" tIns="0" lIns="0" bIns="0" rIns="0">
            <a:spAutoFit/>
          </a:bodyPr>
          <a:lstStyle/>
          <a:p>
            <a:pPr algn="l">
              <a:lnSpc>
                <a:spcPts val="1050"/>
              </a:lnSpc>
            </a:pPr>
            <a:r>
              <a:rPr lang="en-US" sz="750">
                <a:solidFill>
                  <a:srgbClr val="5E6872"/>
                </a:solidFill>
                <a:latin typeface="DejaVu Sans Light"/>
                <a:ea typeface="DejaVu Sans Light"/>
                <a:cs typeface="DejaVu Sans Light"/>
                <a:sym typeface="DejaVu Sans Light"/>
              </a:rPr>
              <a:t>Randy L. Pangilinan Jr. • Resume</a:t>
            </a:r>
          </a:p>
        </p:txBody>
      </p:sp>
      <p:sp>
        <p:nvSpPr>
          <p:cNvPr name="TextBox 39" id="39"/>
          <p:cNvSpPr txBox="true"/>
          <p:nvPr/>
        </p:nvSpPr>
        <p:spPr>
          <a:xfrm rot="0">
            <a:off x="6345250" y="10277856"/>
            <a:ext cx="332289" cy="142018"/>
          </a:xfrm>
          <a:prstGeom prst="rect">
            <a:avLst/>
          </a:prstGeom>
        </p:spPr>
        <p:txBody>
          <a:bodyPr anchor="t" rtlCol="false" tIns="0" lIns="0" bIns="0" rIns="0">
            <a:spAutoFit/>
          </a:bodyPr>
          <a:lstStyle/>
          <a:p>
            <a:pPr algn="l">
              <a:lnSpc>
                <a:spcPts val="1050"/>
              </a:lnSpc>
            </a:pPr>
            <a:r>
              <a:rPr lang="en-US" sz="750">
                <a:solidFill>
                  <a:srgbClr val="5E6872"/>
                </a:solidFill>
                <a:latin typeface="DejaVu Sans Light"/>
                <a:ea typeface="DejaVu Sans Light"/>
                <a:cs typeface="DejaVu Sans Light"/>
                <a:sym typeface="DejaVu Sans Light"/>
              </a:rPr>
              <a:t>Page 2</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88997" y="1233173"/>
            <a:ext cx="5781999" cy="22860"/>
            <a:chOff x="0" y="0"/>
            <a:chExt cx="5782005" cy="22860"/>
          </a:xfrm>
        </p:grpSpPr>
        <p:sp>
          <p:nvSpPr>
            <p:cNvPr name="Freeform 3" id="3"/>
            <p:cNvSpPr/>
            <p:nvPr/>
          </p:nvSpPr>
          <p:spPr>
            <a:xfrm flipH="false" flipV="false" rot="0">
              <a:off x="0" y="0"/>
              <a:ext cx="5782061" cy="22860"/>
            </a:xfrm>
            <a:custGeom>
              <a:avLst/>
              <a:gdLst/>
              <a:ahLst/>
              <a:cxnLst/>
              <a:rect r="r" b="b" t="t" l="l"/>
              <a:pathLst>
                <a:path h="22860" w="5782061">
                  <a:moveTo>
                    <a:pt x="0" y="0"/>
                  </a:moveTo>
                  <a:lnTo>
                    <a:pt x="5782061" y="0"/>
                  </a:lnTo>
                  <a:lnTo>
                    <a:pt x="5782061" y="22860"/>
                  </a:lnTo>
                  <a:lnTo>
                    <a:pt x="0" y="22860"/>
                  </a:lnTo>
                  <a:close/>
                </a:path>
              </a:pathLst>
            </a:custGeom>
            <a:solidFill>
              <a:srgbClr val="1D5FA7"/>
            </a:solidFill>
          </p:spPr>
        </p:sp>
      </p:grpSp>
      <p:grpSp>
        <p:nvGrpSpPr>
          <p:cNvPr name="Group 4" id="4"/>
          <p:cNvGrpSpPr/>
          <p:nvPr/>
        </p:nvGrpSpPr>
        <p:grpSpPr>
          <a:xfrm rot="0">
            <a:off x="888997" y="1652273"/>
            <a:ext cx="5781999" cy="22860"/>
            <a:chOff x="0" y="0"/>
            <a:chExt cx="5782005" cy="22860"/>
          </a:xfrm>
        </p:grpSpPr>
        <p:sp>
          <p:nvSpPr>
            <p:cNvPr name="Freeform 5" id="5"/>
            <p:cNvSpPr/>
            <p:nvPr/>
          </p:nvSpPr>
          <p:spPr>
            <a:xfrm flipH="false" flipV="false" rot="0">
              <a:off x="0" y="0"/>
              <a:ext cx="5782061" cy="22860"/>
            </a:xfrm>
            <a:custGeom>
              <a:avLst/>
              <a:gdLst/>
              <a:ahLst/>
              <a:cxnLst/>
              <a:rect r="r" b="b" t="t" l="l"/>
              <a:pathLst>
                <a:path h="22860" w="5782061">
                  <a:moveTo>
                    <a:pt x="0" y="0"/>
                  </a:moveTo>
                  <a:lnTo>
                    <a:pt x="5782061" y="0"/>
                  </a:lnTo>
                  <a:lnTo>
                    <a:pt x="5782061" y="22860"/>
                  </a:lnTo>
                  <a:lnTo>
                    <a:pt x="0" y="22860"/>
                  </a:lnTo>
                  <a:close/>
                </a:path>
              </a:pathLst>
            </a:custGeom>
            <a:solidFill>
              <a:srgbClr val="1D5FA7"/>
            </a:solidFill>
          </p:spPr>
        </p:sp>
      </p:grpSp>
      <p:grpSp>
        <p:nvGrpSpPr>
          <p:cNvPr name="Group 6" id="6"/>
          <p:cNvGrpSpPr/>
          <p:nvPr/>
        </p:nvGrpSpPr>
        <p:grpSpPr>
          <a:xfrm rot="0">
            <a:off x="888997" y="2153917"/>
            <a:ext cx="5781999" cy="10163"/>
            <a:chOff x="0" y="0"/>
            <a:chExt cx="5782005" cy="10160"/>
          </a:xfrm>
        </p:grpSpPr>
        <p:sp>
          <p:nvSpPr>
            <p:cNvPr name="Freeform 7" id="7"/>
            <p:cNvSpPr/>
            <p:nvPr/>
          </p:nvSpPr>
          <p:spPr>
            <a:xfrm flipH="false" flipV="false" rot="0">
              <a:off x="0" y="0"/>
              <a:ext cx="5782061" cy="10160"/>
            </a:xfrm>
            <a:custGeom>
              <a:avLst/>
              <a:gdLst/>
              <a:ahLst/>
              <a:cxnLst/>
              <a:rect r="r" b="b" t="t" l="l"/>
              <a:pathLst>
                <a:path h="10160" w="5782061">
                  <a:moveTo>
                    <a:pt x="0" y="0"/>
                  </a:moveTo>
                  <a:lnTo>
                    <a:pt x="5782061" y="0"/>
                  </a:lnTo>
                  <a:lnTo>
                    <a:pt x="5782061" y="10160"/>
                  </a:lnTo>
                  <a:lnTo>
                    <a:pt x="0" y="10160"/>
                  </a:lnTo>
                  <a:close/>
                </a:path>
              </a:pathLst>
            </a:custGeom>
            <a:solidFill>
              <a:srgbClr val="D9E2EE"/>
            </a:solidFill>
          </p:spPr>
        </p:sp>
      </p:grpSp>
      <p:sp>
        <p:nvSpPr>
          <p:cNvPr name="Freeform 8" id="8"/>
          <p:cNvSpPr/>
          <p:nvPr/>
        </p:nvSpPr>
        <p:spPr>
          <a:xfrm flipH="false" flipV="false" rot="0">
            <a:off x="820417" y="2534917"/>
            <a:ext cx="5919159" cy="708660"/>
          </a:xfrm>
          <a:custGeom>
            <a:avLst/>
            <a:gdLst/>
            <a:ahLst/>
            <a:cxnLst/>
            <a:rect r="r" b="b" t="t" l="l"/>
            <a:pathLst>
              <a:path h="708660" w="5919159">
                <a:moveTo>
                  <a:pt x="0" y="0"/>
                </a:moveTo>
                <a:lnTo>
                  <a:pt x="5919159" y="0"/>
                </a:lnTo>
                <a:lnTo>
                  <a:pt x="5919159" y="708660"/>
                </a:lnTo>
                <a:lnTo>
                  <a:pt x="0" y="70866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820417" y="3627120"/>
            <a:ext cx="5919159" cy="543563"/>
          </a:xfrm>
          <a:custGeom>
            <a:avLst/>
            <a:gdLst/>
            <a:ahLst/>
            <a:cxnLst/>
            <a:rect r="r" b="b" t="t" l="l"/>
            <a:pathLst>
              <a:path h="543563" w="5919159">
                <a:moveTo>
                  <a:pt x="0" y="0"/>
                </a:moveTo>
                <a:lnTo>
                  <a:pt x="5919159" y="0"/>
                </a:lnTo>
                <a:lnTo>
                  <a:pt x="5919159" y="543563"/>
                </a:lnTo>
                <a:lnTo>
                  <a:pt x="0" y="54356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820417" y="4414523"/>
            <a:ext cx="5919159" cy="543563"/>
          </a:xfrm>
          <a:custGeom>
            <a:avLst/>
            <a:gdLst/>
            <a:ahLst/>
            <a:cxnLst/>
            <a:rect r="r" b="b" t="t" l="l"/>
            <a:pathLst>
              <a:path h="543563" w="5919159">
                <a:moveTo>
                  <a:pt x="0" y="0"/>
                </a:moveTo>
                <a:lnTo>
                  <a:pt x="5919159" y="0"/>
                </a:lnTo>
                <a:lnTo>
                  <a:pt x="5919159" y="543563"/>
                </a:lnTo>
                <a:lnTo>
                  <a:pt x="0" y="543563"/>
                </a:lnTo>
                <a:lnTo>
                  <a:pt x="0" y="0"/>
                </a:lnTo>
                <a:close/>
              </a:path>
            </a:pathLst>
          </a:custGeom>
          <a:blipFill>
            <a:blip r:embed="rId4">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820417" y="5201917"/>
            <a:ext cx="5919159" cy="543563"/>
          </a:xfrm>
          <a:custGeom>
            <a:avLst/>
            <a:gdLst/>
            <a:ahLst/>
            <a:cxnLst/>
            <a:rect r="r" b="b" t="t" l="l"/>
            <a:pathLst>
              <a:path h="543563" w="5919159">
                <a:moveTo>
                  <a:pt x="0" y="0"/>
                </a:moveTo>
                <a:lnTo>
                  <a:pt x="5919159" y="0"/>
                </a:lnTo>
                <a:lnTo>
                  <a:pt x="5919159" y="543563"/>
                </a:lnTo>
                <a:lnTo>
                  <a:pt x="0" y="543563"/>
                </a:lnTo>
                <a:lnTo>
                  <a:pt x="0" y="0"/>
                </a:lnTo>
                <a:close/>
              </a:path>
            </a:pathLst>
          </a:custGeom>
          <a:blipFill>
            <a:blip r:embed="rId4">
              <a:extLst>
                <a:ext uri="{96DAC541-7B7A-43D3-8B79-37D633B846F1}">
                  <asvg:svgBlip xmlns:asvg="http://schemas.microsoft.com/office/drawing/2016/SVG/main" r:embed="rId7"/>
                </a:ext>
              </a:extLst>
            </a:blip>
            <a:stretch>
              <a:fillRect l="0" t="0" r="0" b="0"/>
            </a:stretch>
          </a:blipFill>
        </p:spPr>
      </p:sp>
      <p:sp>
        <p:nvSpPr>
          <p:cNvPr name="Freeform 12" id="12"/>
          <p:cNvSpPr/>
          <p:nvPr/>
        </p:nvSpPr>
        <p:spPr>
          <a:xfrm flipH="false" flipV="false" rot="0">
            <a:off x="820417" y="5989320"/>
            <a:ext cx="5919159" cy="543563"/>
          </a:xfrm>
          <a:custGeom>
            <a:avLst/>
            <a:gdLst/>
            <a:ahLst/>
            <a:cxnLst/>
            <a:rect r="r" b="b" t="t" l="l"/>
            <a:pathLst>
              <a:path h="543563" w="5919159">
                <a:moveTo>
                  <a:pt x="0" y="0"/>
                </a:moveTo>
                <a:lnTo>
                  <a:pt x="5919159" y="0"/>
                </a:lnTo>
                <a:lnTo>
                  <a:pt x="5919159" y="543563"/>
                </a:lnTo>
                <a:lnTo>
                  <a:pt x="0" y="543563"/>
                </a:lnTo>
                <a:lnTo>
                  <a:pt x="0" y="0"/>
                </a:lnTo>
                <a:close/>
              </a:path>
            </a:pathLst>
          </a:custGeom>
          <a:blipFill>
            <a:blip r:embed="rId4">
              <a:extLst>
                <a:ext uri="{96DAC541-7B7A-43D3-8B79-37D633B846F1}">
                  <asvg:svgBlip xmlns:asvg="http://schemas.microsoft.com/office/drawing/2016/SVG/main" r:embed="rId8"/>
                </a:ext>
              </a:extLst>
            </a:blip>
            <a:stretch>
              <a:fillRect l="0" t="0" r="0" b="0"/>
            </a:stretch>
          </a:blipFill>
        </p:spPr>
      </p:sp>
      <p:sp>
        <p:nvSpPr>
          <p:cNvPr name="Freeform 13" id="13"/>
          <p:cNvSpPr/>
          <p:nvPr/>
        </p:nvSpPr>
        <p:spPr>
          <a:xfrm flipH="false" flipV="false" rot="0">
            <a:off x="820417" y="6776723"/>
            <a:ext cx="5919159" cy="543563"/>
          </a:xfrm>
          <a:custGeom>
            <a:avLst/>
            <a:gdLst/>
            <a:ahLst/>
            <a:cxnLst/>
            <a:rect r="r" b="b" t="t" l="l"/>
            <a:pathLst>
              <a:path h="543563" w="5919159">
                <a:moveTo>
                  <a:pt x="0" y="0"/>
                </a:moveTo>
                <a:lnTo>
                  <a:pt x="5919159" y="0"/>
                </a:lnTo>
                <a:lnTo>
                  <a:pt x="5919159" y="543563"/>
                </a:lnTo>
                <a:lnTo>
                  <a:pt x="0" y="543563"/>
                </a:lnTo>
                <a:lnTo>
                  <a:pt x="0" y="0"/>
                </a:lnTo>
                <a:close/>
              </a:path>
            </a:pathLst>
          </a:custGeom>
          <a:blipFill>
            <a:blip r:embed="rId4">
              <a:extLst>
                <a:ext uri="{96DAC541-7B7A-43D3-8B79-37D633B846F1}">
                  <asvg:svgBlip xmlns:asvg="http://schemas.microsoft.com/office/drawing/2016/SVG/main" r:embed="rId9"/>
                </a:ext>
              </a:extLst>
            </a:blip>
            <a:stretch>
              <a:fillRect l="0" t="0" r="0" b="0"/>
            </a:stretch>
          </a:blipFill>
        </p:spPr>
      </p:sp>
      <p:sp>
        <p:nvSpPr>
          <p:cNvPr name="Freeform 14" id="14"/>
          <p:cNvSpPr/>
          <p:nvPr/>
        </p:nvSpPr>
        <p:spPr>
          <a:xfrm flipH="false" flipV="false" rot="0">
            <a:off x="820417" y="7564117"/>
            <a:ext cx="5919159" cy="543563"/>
          </a:xfrm>
          <a:custGeom>
            <a:avLst/>
            <a:gdLst/>
            <a:ahLst/>
            <a:cxnLst/>
            <a:rect r="r" b="b" t="t" l="l"/>
            <a:pathLst>
              <a:path h="543563" w="5919159">
                <a:moveTo>
                  <a:pt x="0" y="0"/>
                </a:moveTo>
                <a:lnTo>
                  <a:pt x="5919159" y="0"/>
                </a:lnTo>
                <a:lnTo>
                  <a:pt x="5919159" y="543563"/>
                </a:lnTo>
                <a:lnTo>
                  <a:pt x="0" y="543563"/>
                </a:lnTo>
                <a:lnTo>
                  <a:pt x="0" y="0"/>
                </a:lnTo>
                <a:close/>
              </a:path>
            </a:pathLst>
          </a:custGeom>
          <a:blipFill>
            <a:blip r:embed="rId4">
              <a:extLst>
                <a:ext uri="{96DAC541-7B7A-43D3-8B79-37D633B846F1}">
                  <asvg:svgBlip xmlns:asvg="http://schemas.microsoft.com/office/drawing/2016/SVG/main" r:embed="rId10"/>
                </a:ext>
              </a:extLst>
            </a:blip>
            <a:stretch>
              <a:fillRect l="0" t="0" r="0" b="0"/>
            </a:stretch>
          </a:blipFill>
        </p:spPr>
      </p:sp>
      <p:grpSp>
        <p:nvGrpSpPr>
          <p:cNvPr name="Group 15" id="15"/>
          <p:cNvGrpSpPr/>
          <p:nvPr/>
        </p:nvGrpSpPr>
        <p:grpSpPr>
          <a:xfrm rot="0">
            <a:off x="888997" y="10154155"/>
            <a:ext cx="5781999" cy="8887"/>
            <a:chOff x="0" y="0"/>
            <a:chExt cx="5782005" cy="8890"/>
          </a:xfrm>
        </p:grpSpPr>
        <p:sp>
          <p:nvSpPr>
            <p:cNvPr name="Freeform 16" id="16"/>
            <p:cNvSpPr/>
            <p:nvPr/>
          </p:nvSpPr>
          <p:spPr>
            <a:xfrm flipH="false" flipV="false" rot="0">
              <a:off x="0" y="0"/>
              <a:ext cx="5782061" cy="8890"/>
            </a:xfrm>
            <a:custGeom>
              <a:avLst/>
              <a:gdLst/>
              <a:ahLst/>
              <a:cxnLst/>
              <a:rect r="r" b="b" t="t" l="l"/>
              <a:pathLst>
                <a:path h="8890" w="5782061">
                  <a:moveTo>
                    <a:pt x="0" y="0"/>
                  </a:moveTo>
                  <a:lnTo>
                    <a:pt x="5782061" y="0"/>
                  </a:lnTo>
                  <a:lnTo>
                    <a:pt x="5782061" y="8890"/>
                  </a:lnTo>
                  <a:lnTo>
                    <a:pt x="0" y="8890"/>
                  </a:lnTo>
                  <a:close/>
                </a:path>
              </a:pathLst>
            </a:custGeom>
            <a:solidFill>
              <a:srgbClr val="D9E2EE"/>
            </a:solidFill>
          </p:spPr>
        </p:sp>
      </p:grpSp>
      <p:sp>
        <p:nvSpPr>
          <p:cNvPr name="TextBox 17" id="17"/>
          <p:cNvSpPr txBox="true"/>
          <p:nvPr/>
        </p:nvSpPr>
        <p:spPr>
          <a:xfrm rot="0">
            <a:off x="888997" y="653729"/>
            <a:ext cx="4135803" cy="520341"/>
          </a:xfrm>
          <a:prstGeom prst="rect">
            <a:avLst/>
          </a:prstGeom>
        </p:spPr>
        <p:txBody>
          <a:bodyPr anchor="t" rtlCol="false" tIns="0" lIns="0" bIns="0" rIns="0">
            <a:spAutoFit/>
          </a:bodyPr>
          <a:lstStyle/>
          <a:p>
            <a:pPr algn="l">
              <a:lnSpc>
                <a:spcPts val="3079"/>
              </a:lnSpc>
            </a:pPr>
            <a:r>
              <a:rPr lang="en-US" b="true" sz="2199">
                <a:solidFill>
                  <a:srgbClr val="182533"/>
                </a:solidFill>
                <a:latin typeface="DejaVu Sans Bold"/>
                <a:ea typeface="DejaVu Sans Bold"/>
                <a:cs typeface="DejaVu Sans Bold"/>
                <a:sym typeface="DejaVu Sans Bold"/>
              </a:rPr>
              <a:t>RANDY L. PANGILINAN JR.</a:t>
            </a:r>
          </a:p>
        </p:txBody>
      </p:sp>
      <p:sp>
        <p:nvSpPr>
          <p:cNvPr name="TextBox 18" id="18"/>
          <p:cNvSpPr txBox="true"/>
          <p:nvPr/>
        </p:nvSpPr>
        <p:spPr>
          <a:xfrm rot="0">
            <a:off x="888997" y="1408300"/>
            <a:ext cx="2090795" cy="152610"/>
          </a:xfrm>
          <a:prstGeom prst="rect">
            <a:avLst/>
          </a:prstGeom>
        </p:spPr>
        <p:txBody>
          <a:bodyPr anchor="t" rtlCol="false" tIns="0" lIns="0" bIns="0" rIns="0">
            <a:spAutoFit/>
          </a:bodyPr>
          <a:lstStyle/>
          <a:p>
            <a:pPr algn="l">
              <a:lnSpc>
                <a:spcPts val="1147"/>
              </a:lnSpc>
            </a:pPr>
            <a:r>
              <a:rPr lang="en-US" sz="819">
                <a:solidFill>
                  <a:srgbClr val="5E6872"/>
                </a:solidFill>
                <a:latin typeface="DejaVu Sans Light"/>
                <a:ea typeface="DejaVu Sans Light"/>
                <a:cs typeface="DejaVu Sans Light"/>
                <a:sym typeface="DejaVu Sans Light"/>
              </a:rPr>
              <a:t>Email: pangilinanrandy781@gmail.com</a:t>
            </a:r>
          </a:p>
        </p:txBody>
      </p:sp>
      <p:sp>
        <p:nvSpPr>
          <p:cNvPr name="TextBox 19" id="19"/>
          <p:cNvSpPr txBox="true"/>
          <p:nvPr/>
        </p:nvSpPr>
        <p:spPr>
          <a:xfrm rot="0">
            <a:off x="3071212" y="1408300"/>
            <a:ext cx="62655" cy="152610"/>
          </a:xfrm>
          <a:prstGeom prst="rect">
            <a:avLst/>
          </a:prstGeom>
        </p:spPr>
        <p:txBody>
          <a:bodyPr anchor="t" rtlCol="false" tIns="0" lIns="0" bIns="0" rIns="0">
            <a:spAutoFit/>
          </a:bodyPr>
          <a:lstStyle/>
          <a:p>
            <a:pPr algn="l">
              <a:lnSpc>
                <a:spcPts val="1147"/>
              </a:lnSpc>
            </a:pPr>
            <a:r>
              <a:rPr lang="en-US" sz="819">
                <a:solidFill>
                  <a:srgbClr val="5E6872"/>
                </a:solidFill>
                <a:latin typeface="DejaVu Sans Light"/>
                <a:ea typeface="DejaVu Sans Light"/>
                <a:cs typeface="DejaVu Sans Light"/>
                <a:sym typeface="DejaVu Sans Light"/>
              </a:rPr>
              <a:t>•</a:t>
            </a:r>
          </a:p>
        </p:txBody>
      </p:sp>
      <p:sp>
        <p:nvSpPr>
          <p:cNvPr name="TextBox 20" id="20"/>
          <p:cNvSpPr txBox="true"/>
          <p:nvPr/>
        </p:nvSpPr>
        <p:spPr>
          <a:xfrm rot="0">
            <a:off x="3265046" y="1408300"/>
            <a:ext cx="1218657" cy="152610"/>
          </a:xfrm>
          <a:prstGeom prst="rect">
            <a:avLst/>
          </a:prstGeom>
        </p:spPr>
        <p:txBody>
          <a:bodyPr anchor="t" rtlCol="false" tIns="0" lIns="0" bIns="0" rIns="0">
            <a:spAutoFit/>
          </a:bodyPr>
          <a:lstStyle/>
          <a:p>
            <a:pPr algn="l">
              <a:lnSpc>
                <a:spcPts val="1147"/>
              </a:lnSpc>
            </a:pPr>
            <a:r>
              <a:rPr lang="en-US" sz="819">
                <a:solidFill>
                  <a:srgbClr val="5E6872"/>
                </a:solidFill>
                <a:latin typeface="DejaVu Sans Light"/>
                <a:ea typeface="DejaVu Sans Light"/>
                <a:cs typeface="DejaVu Sans Light"/>
                <a:sym typeface="DejaVu Sans Light"/>
              </a:rPr>
              <a:t>Phone: 0935-495-1787</a:t>
            </a:r>
          </a:p>
        </p:txBody>
      </p:sp>
      <p:sp>
        <p:nvSpPr>
          <p:cNvPr name="TextBox 21" id="21"/>
          <p:cNvSpPr txBox="true"/>
          <p:nvPr/>
        </p:nvSpPr>
        <p:spPr>
          <a:xfrm rot="0">
            <a:off x="888997" y="1896904"/>
            <a:ext cx="5667823" cy="194958"/>
          </a:xfrm>
          <a:prstGeom prst="rect">
            <a:avLst/>
          </a:prstGeom>
        </p:spPr>
        <p:txBody>
          <a:bodyPr anchor="t" rtlCol="false" tIns="0" lIns="0" bIns="0" rIns="0">
            <a:spAutoFit/>
          </a:bodyPr>
          <a:lstStyle/>
          <a:p>
            <a:pPr algn="l">
              <a:lnSpc>
                <a:spcPts val="1540"/>
              </a:lnSpc>
            </a:pPr>
            <a:r>
              <a:rPr lang="en-US" b="true" sz="1100">
                <a:solidFill>
                  <a:srgbClr val="182533"/>
                </a:solidFill>
                <a:latin typeface="DejaVu Sans Bold"/>
                <a:ea typeface="DejaVu Sans Bold"/>
                <a:cs typeface="DejaVu Sans Bold"/>
                <a:sym typeface="DejaVu Sans Bold"/>
              </a:rPr>
              <a:t>APPLICATION FOR INFORMATION TECHNOLOGY INTERNSHIP PROGRAM</a:t>
            </a:r>
          </a:p>
        </p:txBody>
      </p:sp>
      <p:sp>
        <p:nvSpPr>
          <p:cNvPr name="TextBox 22" id="22"/>
          <p:cNvSpPr txBox="true"/>
          <p:nvPr/>
        </p:nvSpPr>
        <p:spPr>
          <a:xfrm rot="0">
            <a:off x="888997" y="2368363"/>
            <a:ext cx="806825" cy="158210"/>
          </a:xfrm>
          <a:prstGeom prst="rect">
            <a:avLst/>
          </a:prstGeom>
        </p:spPr>
        <p:txBody>
          <a:bodyPr anchor="t" rtlCol="false" tIns="0" lIns="0" bIns="0" rIns="0">
            <a:spAutoFit/>
          </a:bodyPr>
          <a:lstStyle/>
          <a:p>
            <a:pPr algn="l">
              <a:lnSpc>
                <a:spcPts val="1288"/>
              </a:lnSpc>
            </a:pPr>
            <a:r>
              <a:rPr lang="en-US" b="true" sz="920">
                <a:solidFill>
                  <a:srgbClr val="182533"/>
                </a:solidFill>
                <a:latin typeface="DejaVu Sans Bold"/>
                <a:ea typeface="DejaVu Sans Bold"/>
                <a:cs typeface="DejaVu Sans Bold"/>
                <a:sym typeface="DejaVu Sans Bold"/>
              </a:rPr>
              <a:t>Instructions</a:t>
            </a:r>
          </a:p>
        </p:txBody>
      </p:sp>
      <p:sp>
        <p:nvSpPr>
          <p:cNvPr name="TextBox 23" id="23"/>
          <p:cNvSpPr txBox="true"/>
          <p:nvPr/>
        </p:nvSpPr>
        <p:spPr>
          <a:xfrm rot="0">
            <a:off x="1041397" y="2741533"/>
            <a:ext cx="5536035" cy="277949"/>
          </a:xfrm>
          <a:prstGeom prst="rect">
            <a:avLst/>
          </a:prstGeom>
        </p:spPr>
        <p:txBody>
          <a:bodyPr anchor="t" rtlCol="false" tIns="0" lIns="0" bIns="0" rIns="0">
            <a:spAutoFit/>
          </a:bodyPr>
          <a:lstStyle/>
          <a:p>
            <a:pPr algn="l">
              <a:lnSpc>
                <a:spcPts val="1049"/>
              </a:lnSpc>
            </a:pPr>
            <a:r>
              <a:rPr lang="en-US" sz="830">
                <a:solidFill>
                  <a:srgbClr val="5E6872"/>
                </a:solidFill>
                <a:latin typeface="DejaVu Sans Light"/>
                <a:ea typeface="DejaVu Sans Light"/>
                <a:cs typeface="DejaVu Sans Light"/>
                <a:sym typeface="DejaVu Sans Light"/>
              </a:rPr>
              <a:t>Complete each item briefly and honestly. Use clear answers and provide examples where appropriate. This form is intended for internship application practice.</a:t>
            </a:r>
          </a:p>
        </p:txBody>
      </p:sp>
      <p:sp>
        <p:nvSpPr>
          <p:cNvPr name="TextBox 24" id="24"/>
          <p:cNvSpPr txBox="true"/>
          <p:nvPr/>
        </p:nvSpPr>
        <p:spPr>
          <a:xfrm rot="0">
            <a:off x="888997" y="6601330"/>
            <a:ext cx="2659237" cy="152162"/>
          </a:xfrm>
          <a:prstGeom prst="rect">
            <a:avLst/>
          </a:prstGeom>
        </p:spPr>
        <p:txBody>
          <a:bodyPr anchor="t" rtlCol="false" tIns="0" lIns="0" bIns="0" rIns="0">
            <a:spAutoFit/>
          </a:bodyPr>
          <a:lstStyle/>
          <a:p>
            <a:pPr algn="l">
              <a:lnSpc>
                <a:spcPts val="1231"/>
              </a:lnSpc>
            </a:pPr>
            <a:r>
              <a:rPr lang="en-US" b="true" sz="879">
                <a:solidFill>
                  <a:srgbClr val="182533"/>
                </a:solidFill>
                <a:latin typeface="DejaVu Sans Bold"/>
                <a:ea typeface="DejaVu Sans Bold"/>
                <a:cs typeface="DejaVu Sans Bold"/>
                <a:sym typeface="DejaVu Sans Bold"/>
              </a:rPr>
              <a:t>5. What is one skill you want to improve?</a:t>
            </a:r>
          </a:p>
        </p:txBody>
      </p:sp>
      <p:sp>
        <p:nvSpPr>
          <p:cNvPr name="TextBox 25" id="25"/>
          <p:cNvSpPr txBox="true"/>
          <p:nvPr/>
        </p:nvSpPr>
        <p:spPr>
          <a:xfrm rot="0">
            <a:off x="888997" y="5813936"/>
            <a:ext cx="2770670" cy="152162"/>
          </a:xfrm>
          <a:prstGeom prst="rect">
            <a:avLst/>
          </a:prstGeom>
        </p:spPr>
        <p:txBody>
          <a:bodyPr anchor="t" rtlCol="false" tIns="0" lIns="0" bIns="0" rIns="0">
            <a:spAutoFit/>
          </a:bodyPr>
          <a:lstStyle/>
          <a:p>
            <a:pPr algn="l">
              <a:lnSpc>
                <a:spcPts val="1231"/>
              </a:lnSpc>
            </a:pPr>
            <a:r>
              <a:rPr lang="en-US" b="true" sz="879">
                <a:solidFill>
                  <a:srgbClr val="182533"/>
                </a:solidFill>
                <a:latin typeface="DejaVu Sans Bold"/>
                <a:ea typeface="DejaVu Sans Bold"/>
                <a:cs typeface="DejaVu Sans Bold"/>
                <a:sym typeface="DejaVu Sans Bold"/>
              </a:rPr>
              <a:t>4. How do you handle a technical problem?</a:t>
            </a:r>
          </a:p>
        </p:txBody>
      </p:sp>
      <p:sp>
        <p:nvSpPr>
          <p:cNvPr name="TextBox 26" id="26"/>
          <p:cNvSpPr txBox="true"/>
          <p:nvPr/>
        </p:nvSpPr>
        <p:spPr>
          <a:xfrm rot="0">
            <a:off x="888997" y="4239130"/>
            <a:ext cx="2809075" cy="152162"/>
          </a:xfrm>
          <a:prstGeom prst="rect">
            <a:avLst/>
          </a:prstGeom>
        </p:spPr>
        <p:txBody>
          <a:bodyPr anchor="t" rtlCol="false" tIns="0" lIns="0" bIns="0" rIns="0">
            <a:spAutoFit/>
          </a:bodyPr>
          <a:lstStyle/>
          <a:p>
            <a:pPr algn="l">
              <a:lnSpc>
                <a:spcPts val="1231"/>
              </a:lnSpc>
            </a:pPr>
            <a:r>
              <a:rPr lang="en-US" b="true" sz="879">
                <a:solidFill>
                  <a:srgbClr val="182533"/>
                </a:solidFill>
                <a:latin typeface="DejaVu Sans Bold"/>
                <a:ea typeface="DejaVu Sans Bold"/>
                <a:cs typeface="DejaVu Sans Bold"/>
                <a:sym typeface="DejaVu Sans Bold"/>
              </a:rPr>
              <a:t>2. What technical skills can you contribute?</a:t>
            </a:r>
          </a:p>
        </p:txBody>
      </p:sp>
      <p:sp>
        <p:nvSpPr>
          <p:cNvPr name="TextBox 27" id="27"/>
          <p:cNvSpPr txBox="true"/>
          <p:nvPr/>
        </p:nvSpPr>
        <p:spPr>
          <a:xfrm rot="0">
            <a:off x="888997" y="3451736"/>
            <a:ext cx="2908497" cy="152162"/>
          </a:xfrm>
          <a:prstGeom prst="rect">
            <a:avLst/>
          </a:prstGeom>
        </p:spPr>
        <p:txBody>
          <a:bodyPr anchor="t" rtlCol="false" tIns="0" lIns="0" bIns="0" rIns="0">
            <a:spAutoFit/>
          </a:bodyPr>
          <a:lstStyle/>
          <a:p>
            <a:pPr algn="l">
              <a:lnSpc>
                <a:spcPts val="1231"/>
              </a:lnSpc>
            </a:pPr>
            <a:r>
              <a:rPr lang="en-US" b="true" sz="879">
                <a:solidFill>
                  <a:srgbClr val="182533"/>
                </a:solidFill>
                <a:latin typeface="DejaVu Sans Bold"/>
                <a:ea typeface="DejaVu Sans Bold"/>
                <a:cs typeface="DejaVu Sans Bold"/>
                <a:sym typeface="DejaVu Sans Bold"/>
              </a:rPr>
              <a:t>1. Why are you applying for an IT internship?</a:t>
            </a:r>
          </a:p>
        </p:txBody>
      </p:sp>
      <p:sp>
        <p:nvSpPr>
          <p:cNvPr name="TextBox 28" id="28"/>
          <p:cNvSpPr txBox="true"/>
          <p:nvPr/>
        </p:nvSpPr>
        <p:spPr>
          <a:xfrm rot="0">
            <a:off x="888997" y="5026533"/>
            <a:ext cx="2876540" cy="152162"/>
          </a:xfrm>
          <a:prstGeom prst="rect">
            <a:avLst/>
          </a:prstGeom>
        </p:spPr>
        <p:txBody>
          <a:bodyPr anchor="t" rtlCol="false" tIns="0" lIns="0" bIns="0" rIns="0">
            <a:spAutoFit/>
          </a:bodyPr>
          <a:lstStyle/>
          <a:p>
            <a:pPr algn="l">
              <a:lnSpc>
                <a:spcPts val="1231"/>
              </a:lnSpc>
            </a:pPr>
            <a:r>
              <a:rPr lang="en-US" b="true" sz="879">
                <a:solidFill>
                  <a:srgbClr val="182533"/>
                </a:solidFill>
                <a:latin typeface="DejaVu Sans Bold"/>
                <a:ea typeface="DejaVu Sans Bold"/>
                <a:cs typeface="DejaVu Sans Bold"/>
                <a:sym typeface="DejaVu Sans Bold"/>
              </a:rPr>
              <a:t>3. Describe one project you have completed.</a:t>
            </a:r>
          </a:p>
        </p:txBody>
      </p:sp>
      <p:sp>
        <p:nvSpPr>
          <p:cNvPr name="TextBox 29" id="29"/>
          <p:cNvSpPr txBox="true"/>
          <p:nvPr/>
        </p:nvSpPr>
        <p:spPr>
          <a:xfrm rot="0">
            <a:off x="888997" y="7388733"/>
            <a:ext cx="3101245" cy="152162"/>
          </a:xfrm>
          <a:prstGeom prst="rect">
            <a:avLst/>
          </a:prstGeom>
        </p:spPr>
        <p:txBody>
          <a:bodyPr anchor="t" rtlCol="false" tIns="0" lIns="0" bIns="0" rIns="0">
            <a:spAutoFit/>
          </a:bodyPr>
          <a:lstStyle/>
          <a:p>
            <a:pPr algn="l">
              <a:lnSpc>
                <a:spcPts val="1231"/>
              </a:lnSpc>
            </a:pPr>
            <a:r>
              <a:rPr lang="en-US" b="true" sz="879">
                <a:solidFill>
                  <a:srgbClr val="182533"/>
                </a:solidFill>
                <a:latin typeface="DejaVu Sans Bold"/>
                <a:ea typeface="DejaVu Sans Bold"/>
                <a:cs typeface="DejaVu Sans Bold"/>
                <a:sym typeface="DejaVu Sans Bold"/>
              </a:rPr>
              <a:t>6. Are you comfortable working remotely? Why?</a:t>
            </a:r>
          </a:p>
        </p:txBody>
      </p:sp>
      <p:sp>
        <p:nvSpPr>
          <p:cNvPr name="TextBox 30" id="30"/>
          <p:cNvSpPr txBox="true"/>
          <p:nvPr/>
        </p:nvSpPr>
        <p:spPr>
          <a:xfrm rot="0">
            <a:off x="1016003" y="6943058"/>
            <a:ext cx="5267001" cy="135522"/>
          </a:xfrm>
          <a:prstGeom prst="rect">
            <a:avLst/>
          </a:prstGeom>
        </p:spPr>
        <p:txBody>
          <a:bodyPr anchor="t" rtlCol="false" tIns="0" lIns="0" bIns="0" rIns="0">
            <a:spAutoFit/>
          </a:bodyPr>
          <a:lstStyle/>
          <a:p>
            <a:pPr algn="l">
              <a:lnSpc>
                <a:spcPts val="1078"/>
              </a:lnSpc>
            </a:pPr>
            <a:r>
              <a:rPr lang="en-US" sz="770">
                <a:solidFill>
                  <a:srgbClr val="5E6872"/>
                </a:solidFill>
                <a:latin typeface="DejaVu Sans Light"/>
                <a:ea typeface="DejaVu Sans Light"/>
                <a:cs typeface="DejaVu Sans Light"/>
                <a:sym typeface="DejaVu Sans Light"/>
              </a:rPr>
              <a:t>I want to improve my networking and system administration skills through supervised hands-on practice.</a:t>
            </a:r>
          </a:p>
        </p:txBody>
      </p:sp>
      <p:sp>
        <p:nvSpPr>
          <p:cNvPr name="TextBox 31" id="31"/>
          <p:cNvSpPr txBox="true"/>
          <p:nvPr/>
        </p:nvSpPr>
        <p:spPr>
          <a:xfrm rot="0">
            <a:off x="1016003" y="4590383"/>
            <a:ext cx="5306492" cy="246640"/>
          </a:xfrm>
          <a:prstGeom prst="rect">
            <a:avLst/>
          </a:prstGeom>
        </p:spPr>
        <p:txBody>
          <a:bodyPr anchor="t" rtlCol="false" tIns="0" lIns="0" bIns="0" rIns="0">
            <a:spAutoFit/>
          </a:bodyPr>
          <a:lstStyle/>
          <a:p>
            <a:pPr algn="l">
              <a:lnSpc>
                <a:spcPts val="950"/>
              </a:lnSpc>
            </a:pPr>
            <a:r>
              <a:rPr lang="en-US" sz="770">
                <a:solidFill>
                  <a:srgbClr val="5E6872"/>
                </a:solidFill>
                <a:latin typeface="DejaVu Sans Light"/>
                <a:ea typeface="DejaVu Sans Light"/>
                <a:cs typeface="DejaVu Sans Light"/>
                <a:sym typeface="DejaVu Sans Light"/>
              </a:rPr>
              <a:t>I can contribute basic programming, computer troubleshooting, file management, web fundamentals, and effective use of collaboration tools.</a:t>
            </a:r>
          </a:p>
        </p:txBody>
      </p:sp>
      <p:sp>
        <p:nvSpPr>
          <p:cNvPr name="TextBox 32" id="32"/>
          <p:cNvSpPr txBox="true"/>
          <p:nvPr/>
        </p:nvSpPr>
        <p:spPr>
          <a:xfrm rot="0">
            <a:off x="1016003" y="5377777"/>
            <a:ext cx="5470236" cy="246640"/>
          </a:xfrm>
          <a:prstGeom prst="rect">
            <a:avLst/>
          </a:prstGeom>
        </p:spPr>
        <p:txBody>
          <a:bodyPr anchor="t" rtlCol="false" tIns="0" lIns="0" bIns="0" rIns="0">
            <a:spAutoFit/>
          </a:bodyPr>
          <a:lstStyle/>
          <a:p>
            <a:pPr algn="l">
              <a:lnSpc>
                <a:spcPts val="950"/>
              </a:lnSpc>
            </a:pPr>
            <a:r>
              <a:rPr lang="en-US" sz="770">
                <a:solidFill>
                  <a:srgbClr val="5E6872"/>
                </a:solidFill>
                <a:latin typeface="DejaVu Sans Light"/>
                <a:ea typeface="DejaVu Sans Light"/>
                <a:cs typeface="DejaVu Sans Light"/>
                <a:sym typeface="DejaVu Sans Light"/>
              </a:rPr>
              <a:t>I developed a simple attendance-tracking concept that organized student records and made daily monitoring easier.</a:t>
            </a:r>
          </a:p>
        </p:txBody>
      </p:sp>
      <p:sp>
        <p:nvSpPr>
          <p:cNvPr name="TextBox 33" id="33"/>
          <p:cNvSpPr txBox="true"/>
          <p:nvPr/>
        </p:nvSpPr>
        <p:spPr>
          <a:xfrm rot="0">
            <a:off x="1016003" y="3802980"/>
            <a:ext cx="5485876" cy="246640"/>
          </a:xfrm>
          <a:prstGeom prst="rect">
            <a:avLst/>
          </a:prstGeom>
        </p:spPr>
        <p:txBody>
          <a:bodyPr anchor="t" rtlCol="false" tIns="0" lIns="0" bIns="0" rIns="0">
            <a:spAutoFit/>
          </a:bodyPr>
          <a:lstStyle/>
          <a:p>
            <a:pPr algn="l">
              <a:lnSpc>
                <a:spcPts val="950"/>
              </a:lnSpc>
            </a:pPr>
            <a:r>
              <a:rPr lang="en-US" sz="770">
                <a:solidFill>
                  <a:srgbClr val="5E6872"/>
                </a:solidFill>
                <a:latin typeface="DejaVu Sans Light"/>
                <a:ea typeface="DejaVu Sans Light"/>
                <a:cs typeface="DejaVu Sans Light"/>
                <a:sym typeface="DejaVu Sans Light"/>
              </a:rPr>
              <a:t>I want to gain hands-on experience, improve my technical skills, and learn how IT teams solve real workplace problems.</a:t>
            </a:r>
          </a:p>
        </p:txBody>
      </p:sp>
      <p:sp>
        <p:nvSpPr>
          <p:cNvPr name="TextBox 34" id="34"/>
          <p:cNvSpPr txBox="true"/>
          <p:nvPr/>
        </p:nvSpPr>
        <p:spPr>
          <a:xfrm rot="0">
            <a:off x="1016003" y="6165180"/>
            <a:ext cx="5500821" cy="246640"/>
          </a:xfrm>
          <a:prstGeom prst="rect">
            <a:avLst/>
          </a:prstGeom>
        </p:spPr>
        <p:txBody>
          <a:bodyPr anchor="t" rtlCol="false" tIns="0" lIns="0" bIns="0" rIns="0">
            <a:spAutoFit/>
          </a:bodyPr>
          <a:lstStyle/>
          <a:p>
            <a:pPr algn="l">
              <a:lnSpc>
                <a:spcPts val="950"/>
              </a:lnSpc>
            </a:pPr>
            <a:r>
              <a:rPr lang="en-US" sz="770">
                <a:solidFill>
                  <a:srgbClr val="5E6872"/>
                </a:solidFill>
                <a:latin typeface="DejaVu Sans Light"/>
                <a:ea typeface="DejaVu Sans Light"/>
                <a:cs typeface="DejaVu Sans Light"/>
                <a:sym typeface="DejaVu Sans Light"/>
              </a:rPr>
              <a:t>I identify the issue, reproduce it when possible, check the simplest causes first, test a solution, and document the result.</a:t>
            </a:r>
          </a:p>
        </p:txBody>
      </p:sp>
      <p:sp>
        <p:nvSpPr>
          <p:cNvPr name="TextBox 35" id="35"/>
          <p:cNvSpPr txBox="true"/>
          <p:nvPr/>
        </p:nvSpPr>
        <p:spPr>
          <a:xfrm rot="0">
            <a:off x="1016003" y="7739977"/>
            <a:ext cx="5552646" cy="246640"/>
          </a:xfrm>
          <a:prstGeom prst="rect">
            <a:avLst/>
          </a:prstGeom>
        </p:spPr>
        <p:txBody>
          <a:bodyPr anchor="t" rtlCol="false" tIns="0" lIns="0" bIns="0" rIns="0">
            <a:spAutoFit/>
          </a:bodyPr>
          <a:lstStyle/>
          <a:p>
            <a:pPr algn="l">
              <a:lnSpc>
                <a:spcPts val="950"/>
              </a:lnSpc>
            </a:pPr>
            <a:r>
              <a:rPr lang="en-US" sz="770">
                <a:solidFill>
                  <a:srgbClr val="5E6872"/>
                </a:solidFill>
                <a:latin typeface="DejaVu Sans Light"/>
                <a:ea typeface="DejaVu Sans Light"/>
                <a:cs typeface="DejaVu Sans Light"/>
                <a:sym typeface="DejaVu Sans Light"/>
              </a:rPr>
              <a:t>Yes. I can work with online meeting platforms, shared files, task instructions, and regular communication while working from home.</a:t>
            </a:r>
          </a:p>
        </p:txBody>
      </p:sp>
      <p:sp>
        <p:nvSpPr>
          <p:cNvPr name="TextBox 36" id="36"/>
          <p:cNvSpPr txBox="true"/>
          <p:nvPr/>
        </p:nvSpPr>
        <p:spPr>
          <a:xfrm rot="0">
            <a:off x="888997" y="10277856"/>
            <a:ext cx="2032664" cy="142018"/>
          </a:xfrm>
          <a:prstGeom prst="rect">
            <a:avLst/>
          </a:prstGeom>
        </p:spPr>
        <p:txBody>
          <a:bodyPr anchor="t" rtlCol="false" tIns="0" lIns="0" bIns="0" rIns="0">
            <a:spAutoFit/>
          </a:bodyPr>
          <a:lstStyle/>
          <a:p>
            <a:pPr algn="l">
              <a:lnSpc>
                <a:spcPts val="1050"/>
              </a:lnSpc>
            </a:pPr>
            <a:r>
              <a:rPr lang="en-US" sz="750">
                <a:solidFill>
                  <a:srgbClr val="5E6872"/>
                </a:solidFill>
                <a:latin typeface="DejaVu Sans Light"/>
                <a:ea typeface="DejaVu Sans Light"/>
                <a:cs typeface="DejaVu Sans Light"/>
                <a:sym typeface="DejaVu Sans Light"/>
              </a:rPr>
              <a:t>Randy L. Pangilinan Jr. • Application Form</a:t>
            </a:r>
          </a:p>
        </p:txBody>
      </p:sp>
      <p:sp>
        <p:nvSpPr>
          <p:cNvPr name="TextBox 37" id="37"/>
          <p:cNvSpPr txBox="true"/>
          <p:nvPr/>
        </p:nvSpPr>
        <p:spPr>
          <a:xfrm rot="0">
            <a:off x="6345250" y="10277856"/>
            <a:ext cx="332261" cy="142018"/>
          </a:xfrm>
          <a:prstGeom prst="rect">
            <a:avLst/>
          </a:prstGeom>
        </p:spPr>
        <p:txBody>
          <a:bodyPr anchor="t" rtlCol="false" tIns="0" lIns="0" bIns="0" rIns="0">
            <a:spAutoFit/>
          </a:bodyPr>
          <a:lstStyle/>
          <a:p>
            <a:pPr algn="l">
              <a:lnSpc>
                <a:spcPts val="1050"/>
              </a:lnSpc>
            </a:pPr>
            <a:r>
              <a:rPr lang="en-US" sz="750">
                <a:solidFill>
                  <a:srgbClr val="5E6872"/>
                </a:solidFill>
                <a:latin typeface="DejaVu Sans Light"/>
                <a:ea typeface="DejaVu Sans Light"/>
                <a:cs typeface="DejaVu Sans Light"/>
                <a:sym typeface="DejaVu Sans Light"/>
              </a:rPr>
              <a:t>Page 3</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88997" y="1233173"/>
            <a:ext cx="5781999" cy="22860"/>
            <a:chOff x="0" y="0"/>
            <a:chExt cx="5782005" cy="22860"/>
          </a:xfrm>
        </p:grpSpPr>
        <p:sp>
          <p:nvSpPr>
            <p:cNvPr name="Freeform 3" id="3"/>
            <p:cNvSpPr/>
            <p:nvPr/>
          </p:nvSpPr>
          <p:spPr>
            <a:xfrm flipH="false" flipV="false" rot="0">
              <a:off x="0" y="0"/>
              <a:ext cx="5782061" cy="22860"/>
            </a:xfrm>
            <a:custGeom>
              <a:avLst/>
              <a:gdLst/>
              <a:ahLst/>
              <a:cxnLst/>
              <a:rect r="r" b="b" t="t" l="l"/>
              <a:pathLst>
                <a:path h="22860" w="5782061">
                  <a:moveTo>
                    <a:pt x="0" y="0"/>
                  </a:moveTo>
                  <a:lnTo>
                    <a:pt x="5782061" y="0"/>
                  </a:lnTo>
                  <a:lnTo>
                    <a:pt x="5782061" y="22860"/>
                  </a:lnTo>
                  <a:lnTo>
                    <a:pt x="0" y="22860"/>
                  </a:lnTo>
                  <a:close/>
                </a:path>
              </a:pathLst>
            </a:custGeom>
            <a:solidFill>
              <a:srgbClr val="1D5FA7"/>
            </a:solidFill>
          </p:spPr>
        </p:sp>
      </p:grpSp>
      <p:grpSp>
        <p:nvGrpSpPr>
          <p:cNvPr name="Group 4" id="4"/>
          <p:cNvGrpSpPr/>
          <p:nvPr/>
        </p:nvGrpSpPr>
        <p:grpSpPr>
          <a:xfrm rot="0">
            <a:off x="888997" y="10154155"/>
            <a:ext cx="5781999" cy="8887"/>
            <a:chOff x="0" y="0"/>
            <a:chExt cx="5782005" cy="8890"/>
          </a:xfrm>
        </p:grpSpPr>
        <p:sp>
          <p:nvSpPr>
            <p:cNvPr name="Freeform 5" id="5"/>
            <p:cNvSpPr/>
            <p:nvPr/>
          </p:nvSpPr>
          <p:spPr>
            <a:xfrm flipH="false" flipV="false" rot="0">
              <a:off x="0" y="0"/>
              <a:ext cx="5782061" cy="8890"/>
            </a:xfrm>
            <a:custGeom>
              <a:avLst/>
              <a:gdLst/>
              <a:ahLst/>
              <a:cxnLst/>
              <a:rect r="r" b="b" t="t" l="l"/>
              <a:pathLst>
                <a:path h="8890" w="5782061">
                  <a:moveTo>
                    <a:pt x="0" y="0"/>
                  </a:moveTo>
                  <a:lnTo>
                    <a:pt x="5782061" y="0"/>
                  </a:lnTo>
                  <a:lnTo>
                    <a:pt x="5782061" y="8890"/>
                  </a:lnTo>
                  <a:lnTo>
                    <a:pt x="0" y="8890"/>
                  </a:lnTo>
                  <a:close/>
                </a:path>
              </a:pathLst>
            </a:custGeom>
            <a:solidFill>
              <a:srgbClr val="D9E2EE"/>
            </a:solidFill>
          </p:spPr>
        </p:sp>
      </p:grpSp>
      <p:sp>
        <p:nvSpPr>
          <p:cNvPr name="Freeform 6" id="6"/>
          <p:cNvSpPr/>
          <p:nvPr/>
        </p:nvSpPr>
        <p:spPr>
          <a:xfrm flipH="false" flipV="false" rot="0">
            <a:off x="820417" y="3576323"/>
            <a:ext cx="5915663" cy="873757"/>
          </a:xfrm>
          <a:custGeom>
            <a:avLst/>
            <a:gdLst/>
            <a:ahLst/>
            <a:cxnLst/>
            <a:rect r="r" b="b" t="t" l="l"/>
            <a:pathLst>
              <a:path h="873757" w="5915663">
                <a:moveTo>
                  <a:pt x="0" y="0"/>
                </a:moveTo>
                <a:lnTo>
                  <a:pt x="5915663" y="0"/>
                </a:lnTo>
                <a:lnTo>
                  <a:pt x="5915663" y="873757"/>
                </a:lnTo>
                <a:lnTo>
                  <a:pt x="0" y="87375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820417" y="4947923"/>
            <a:ext cx="5915663" cy="1597657"/>
          </a:xfrm>
          <a:custGeom>
            <a:avLst/>
            <a:gdLst/>
            <a:ahLst/>
            <a:cxnLst/>
            <a:rect r="r" b="b" t="t" l="l"/>
            <a:pathLst>
              <a:path h="1597657" w="5915663">
                <a:moveTo>
                  <a:pt x="0" y="0"/>
                </a:moveTo>
                <a:lnTo>
                  <a:pt x="5915663" y="0"/>
                </a:lnTo>
                <a:lnTo>
                  <a:pt x="5915663" y="1597657"/>
                </a:lnTo>
                <a:lnTo>
                  <a:pt x="0" y="159765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820417" y="6979920"/>
            <a:ext cx="5915663" cy="2296163"/>
          </a:xfrm>
          <a:custGeom>
            <a:avLst/>
            <a:gdLst/>
            <a:ahLst/>
            <a:cxnLst/>
            <a:rect r="r" b="b" t="t" l="l"/>
            <a:pathLst>
              <a:path h="2296163" w="5915663">
                <a:moveTo>
                  <a:pt x="0" y="0"/>
                </a:moveTo>
                <a:lnTo>
                  <a:pt x="5915663" y="0"/>
                </a:lnTo>
                <a:lnTo>
                  <a:pt x="5915663" y="2296163"/>
                </a:lnTo>
                <a:lnTo>
                  <a:pt x="0" y="229616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9" id="9"/>
          <p:cNvGrpSpPr/>
          <p:nvPr/>
        </p:nvGrpSpPr>
        <p:grpSpPr>
          <a:xfrm rot="0">
            <a:off x="2793997" y="1455420"/>
            <a:ext cx="3876999" cy="10163"/>
            <a:chOff x="0" y="0"/>
            <a:chExt cx="3877005" cy="10160"/>
          </a:xfrm>
        </p:grpSpPr>
        <p:sp>
          <p:nvSpPr>
            <p:cNvPr name="Freeform 10" id="10"/>
            <p:cNvSpPr/>
            <p:nvPr/>
          </p:nvSpPr>
          <p:spPr>
            <a:xfrm flipH="false" flipV="false" rot="0">
              <a:off x="0" y="0"/>
              <a:ext cx="3877061" cy="10160"/>
            </a:xfrm>
            <a:custGeom>
              <a:avLst/>
              <a:gdLst/>
              <a:ahLst/>
              <a:cxnLst/>
              <a:rect r="r" b="b" t="t" l="l"/>
              <a:pathLst>
                <a:path h="10160" w="3877061">
                  <a:moveTo>
                    <a:pt x="0" y="0"/>
                  </a:moveTo>
                  <a:lnTo>
                    <a:pt x="3877061" y="0"/>
                  </a:lnTo>
                  <a:lnTo>
                    <a:pt x="3877061" y="10160"/>
                  </a:lnTo>
                  <a:lnTo>
                    <a:pt x="0" y="10160"/>
                  </a:lnTo>
                  <a:close/>
                </a:path>
              </a:pathLst>
            </a:custGeom>
            <a:solidFill>
              <a:srgbClr val="D9E2EE"/>
            </a:solidFill>
          </p:spPr>
        </p:sp>
      </p:grpSp>
      <p:grpSp>
        <p:nvGrpSpPr>
          <p:cNvPr name="Group 11" id="11"/>
          <p:cNvGrpSpPr/>
          <p:nvPr/>
        </p:nvGrpSpPr>
        <p:grpSpPr>
          <a:xfrm rot="0">
            <a:off x="2793997" y="6814823"/>
            <a:ext cx="3876999" cy="10163"/>
            <a:chOff x="0" y="0"/>
            <a:chExt cx="3877005" cy="10160"/>
          </a:xfrm>
        </p:grpSpPr>
        <p:sp>
          <p:nvSpPr>
            <p:cNvPr name="Freeform 12" id="12"/>
            <p:cNvSpPr/>
            <p:nvPr/>
          </p:nvSpPr>
          <p:spPr>
            <a:xfrm flipH="false" flipV="false" rot="0">
              <a:off x="0" y="0"/>
              <a:ext cx="3877061" cy="10160"/>
            </a:xfrm>
            <a:custGeom>
              <a:avLst/>
              <a:gdLst/>
              <a:ahLst/>
              <a:cxnLst/>
              <a:rect r="r" b="b" t="t" l="l"/>
              <a:pathLst>
                <a:path h="10160" w="3877061">
                  <a:moveTo>
                    <a:pt x="0" y="0"/>
                  </a:moveTo>
                  <a:lnTo>
                    <a:pt x="3877061" y="0"/>
                  </a:lnTo>
                  <a:lnTo>
                    <a:pt x="3877061" y="10160"/>
                  </a:lnTo>
                  <a:lnTo>
                    <a:pt x="0" y="10160"/>
                  </a:lnTo>
                  <a:close/>
                </a:path>
              </a:pathLst>
            </a:custGeom>
            <a:solidFill>
              <a:srgbClr val="D9E2EE"/>
            </a:solidFill>
          </p:spPr>
        </p:sp>
      </p:grpSp>
      <p:grpSp>
        <p:nvGrpSpPr>
          <p:cNvPr name="Group 13" id="13"/>
          <p:cNvGrpSpPr/>
          <p:nvPr/>
        </p:nvGrpSpPr>
        <p:grpSpPr>
          <a:xfrm rot="0">
            <a:off x="3302003" y="4782817"/>
            <a:ext cx="3369002" cy="10163"/>
            <a:chOff x="0" y="0"/>
            <a:chExt cx="3369005" cy="10160"/>
          </a:xfrm>
        </p:grpSpPr>
        <p:sp>
          <p:nvSpPr>
            <p:cNvPr name="Freeform 14" id="14"/>
            <p:cNvSpPr/>
            <p:nvPr/>
          </p:nvSpPr>
          <p:spPr>
            <a:xfrm flipH="false" flipV="false" rot="0">
              <a:off x="0" y="0"/>
              <a:ext cx="3369061" cy="10160"/>
            </a:xfrm>
            <a:custGeom>
              <a:avLst/>
              <a:gdLst/>
              <a:ahLst/>
              <a:cxnLst/>
              <a:rect r="r" b="b" t="t" l="l"/>
              <a:pathLst>
                <a:path h="10160" w="3369061">
                  <a:moveTo>
                    <a:pt x="0" y="0"/>
                  </a:moveTo>
                  <a:lnTo>
                    <a:pt x="3369061" y="0"/>
                  </a:lnTo>
                  <a:lnTo>
                    <a:pt x="3369061" y="10160"/>
                  </a:lnTo>
                  <a:lnTo>
                    <a:pt x="0" y="10160"/>
                  </a:lnTo>
                  <a:close/>
                </a:path>
              </a:pathLst>
            </a:custGeom>
            <a:solidFill>
              <a:srgbClr val="D9E2EE"/>
            </a:solidFill>
          </p:spPr>
        </p:sp>
      </p:grpSp>
      <p:sp>
        <p:nvSpPr>
          <p:cNvPr name="Freeform 15" id="15"/>
          <p:cNvSpPr/>
          <p:nvPr/>
        </p:nvSpPr>
        <p:spPr>
          <a:xfrm flipH="false" flipV="false" rot="0">
            <a:off x="820417" y="1557023"/>
            <a:ext cx="5915663" cy="1991363"/>
          </a:xfrm>
          <a:custGeom>
            <a:avLst/>
            <a:gdLst/>
            <a:ahLst/>
            <a:cxnLst/>
            <a:rect r="r" b="b" t="t" l="l"/>
            <a:pathLst>
              <a:path h="1991363" w="5915663">
                <a:moveTo>
                  <a:pt x="0" y="0"/>
                </a:moveTo>
                <a:lnTo>
                  <a:pt x="5915663" y="0"/>
                </a:lnTo>
                <a:lnTo>
                  <a:pt x="5915663" y="1991363"/>
                </a:lnTo>
                <a:lnTo>
                  <a:pt x="0" y="199136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6" id="16"/>
          <p:cNvSpPr txBox="true"/>
          <p:nvPr/>
        </p:nvSpPr>
        <p:spPr>
          <a:xfrm rot="0">
            <a:off x="888997" y="653729"/>
            <a:ext cx="4558694" cy="903980"/>
          </a:xfrm>
          <a:prstGeom prst="rect">
            <a:avLst/>
          </a:prstGeom>
        </p:spPr>
        <p:txBody>
          <a:bodyPr anchor="t" rtlCol="false" tIns="0" lIns="0" bIns="0" rIns="0">
            <a:spAutoFit/>
          </a:bodyPr>
          <a:lstStyle/>
          <a:p>
            <a:pPr algn="l">
              <a:lnSpc>
                <a:spcPts val="3079"/>
              </a:lnSpc>
            </a:pPr>
            <a:r>
              <a:rPr lang="en-US" b="true" sz="2199">
                <a:solidFill>
                  <a:srgbClr val="182533"/>
                </a:solidFill>
                <a:latin typeface="DejaVu Sans Bold"/>
                <a:ea typeface="DejaVu Sans Bold"/>
                <a:cs typeface="DejaVu Sans Bold"/>
                <a:sym typeface="DejaVu Sans Bold"/>
              </a:rPr>
              <a:t>JOB / EMPLOYER REFERENCE</a:t>
            </a:r>
          </a:p>
          <a:p>
            <a:pPr algn="l">
              <a:lnSpc>
                <a:spcPts val="1470"/>
              </a:lnSpc>
            </a:pPr>
            <a:r>
              <a:rPr lang="en-US" b="true" sz="1050">
                <a:solidFill>
                  <a:srgbClr val="182533"/>
                </a:solidFill>
                <a:latin typeface="DejaVu Sans Bold"/>
                <a:ea typeface="DejaVu Sans Bold"/>
                <a:cs typeface="DejaVu Sans Bold"/>
                <a:sym typeface="DejaVu Sans Bold"/>
              </a:rPr>
              <a:t>REFERENCE SPECIFICATIONS</a:t>
            </a:r>
          </a:p>
        </p:txBody>
      </p:sp>
      <p:sp>
        <p:nvSpPr>
          <p:cNvPr name="TextBox 17" id="17"/>
          <p:cNvSpPr txBox="true"/>
          <p:nvPr/>
        </p:nvSpPr>
        <p:spPr>
          <a:xfrm rot="0">
            <a:off x="1767440" y="7313609"/>
            <a:ext cx="4105618" cy="418633"/>
          </a:xfrm>
          <a:prstGeom prst="rect">
            <a:avLst/>
          </a:prstGeom>
        </p:spPr>
        <p:txBody>
          <a:bodyPr anchor="t" rtlCol="false" tIns="0" lIns="0" bIns="0" rIns="0">
            <a:spAutoFit/>
          </a:bodyPr>
          <a:lstStyle/>
          <a:p>
            <a:pPr algn="ctr">
              <a:lnSpc>
                <a:spcPts val="1399"/>
              </a:lnSpc>
            </a:pPr>
            <a:r>
              <a:rPr lang="en-US" b="true" sz="999">
                <a:solidFill>
                  <a:srgbClr val="1D5FA7"/>
                </a:solidFill>
                <a:latin typeface="DejaVu Sans Bold"/>
                <a:ea typeface="DejaVu Sans Bold"/>
                <a:cs typeface="DejaVu Sans Bold"/>
                <a:sym typeface="DejaVu Sans Bold"/>
              </a:rPr>
              <a:t>[ INSERT JOB POSTING / EMPLOYER SCREENSHOT HERE ]</a:t>
            </a:r>
          </a:p>
          <a:p>
            <a:pPr algn="ctr">
              <a:lnSpc>
                <a:spcPts val="1120"/>
              </a:lnSpc>
            </a:pPr>
            <a:r>
              <a:rPr lang="en-US" sz="800">
                <a:solidFill>
                  <a:srgbClr val="5E6872"/>
                </a:solidFill>
                <a:latin typeface="DejaVu Sans Light"/>
                <a:ea typeface="DejaVu Sans Light"/>
                <a:cs typeface="DejaVu Sans Light"/>
                <a:sym typeface="DejaVu Sans Light"/>
              </a:rPr>
              <a:t>Job title • Company • Location • Date accessed • Source URL</a:t>
            </a:r>
          </a:p>
        </p:txBody>
      </p:sp>
      <p:sp>
        <p:nvSpPr>
          <p:cNvPr name="TextBox 18" id="18"/>
          <p:cNvSpPr txBox="true"/>
          <p:nvPr/>
        </p:nvSpPr>
        <p:spPr>
          <a:xfrm rot="0">
            <a:off x="888997" y="6727746"/>
            <a:ext cx="2364229" cy="187395"/>
          </a:xfrm>
          <a:prstGeom prst="rect">
            <a:avLst/>
          </a:prstGeom>
        </p:spPr>
        <p:txBody>
          <a:bodyPr anchor="t" rtlCol="false" tIns="0" lIns="0" bIns="0" rIns="0">
            <a:spAutoFit/>
          </a:bodyPr>
          <a:lstStyle/>
          <a:p>
            <a:pPr algn="l">
              <a:lnSpc>
                <a:spcPts val="1470"/>
              </a:lnSpc>
            </a:pPr>
            <a:r>
              <a:rPr lang="en-US" b="true" sz="1050">
                <a:solidFill>
                  <a:srgbClr val="182533"/>
                </a:solidFill>
                <a:latin typeface="DejaVu Sans Bold"/>
                <a:ea typeface="DejaVu Sans Bold"/>
                <a:cs typeface="DejaVu Sans Bold"/>
                <a:sym typeface="DejaVu Sans Bold"/>
              </a:rPr>
              <a:t>SOURCE / SCREENSHOT PROOF</a:t>
            </a:r>
          </a:p>
        </p:txBody>
      </p:sp>
      <p:sp>
        <p:nvSpPr>
          <p:cNvPr name="TextBox 19" id="19"/>
          <p:cNvSpPr txBox="true"/>
          <p:nvPr/>
        </p:nvSpPr>
        <p:spPr>
          <a:xfrm rot="0">
            <a:off x="888997" y="4695749"/>
            <a:ext cx="2667543" cy="187395"/>
          </a:xfrm>
          <a:prstGeom prst="rect">
            <a:avLst/>
          </a:prstGeom>
        </p:spPr>
        <p:txBody>
          <a:bodyPr anchor="t" rtlCol="false" tIns="0" lIns="0" bIns="0" rIns="0">
            <a:spAutoFit/>
          </a:bodyPr>
          <a:lstStyle/>
          <a:p>
            <a:pPr algn="l">
              <a:lnSpc>
                <a:spcPts val="1470"/>
              </a:lnSpc>
            </a:pPr>
            <a:r>
              <a:rPr lang="en-US" b="true" sz="1050">
                <a:solidFill>
                  <a:srgbClr val="182533"/>
                </a:solidFill>
                <a:latin typeface="DejaVu Sans Bold"/>
                <a:ea typeface="DejaVu Sans Bold"/>
                <a:cs typeface="DejaVu Sans Bold"/>
                <a:sym typeface="DejaVu Sans Bold"/>
              </a:rPr>
              <a:t>REFERENCE / VERIFICATION NOTES</a:t>
            </a:r>
          </a:p>
        </p:txBody>
      </p:sp>
      <p:sp>
        <p:nvSpPr>
          <p:cNvPr name="TextBox 20" id="20"/>
          <p:cNvSpPr txBox="true"/>
          <p:nvPr/>
        </p:nvSpPr>
        <p:spPr>
          <a:xfrm rot="0">
            <a:off x="1016003" y="1775650"/>
            <a:ext cx="1831153" cy="290579"/>
          </a:xfrm>
          <a:prstGeom prst="rect">
            <a:avLst/>
          </a:prstGeom>
        </p:spPr>
        <p:txBody>
          <a:bodyPr anchor="t" rtlCol="false" tIns="0" lIns="0" bIns="0" rIns="0">
            <a:spAutoFit/>
          </a:bodyPr>
          <a:lstStyle/>
          <a:p>
            <a:pPr algn="l">
              <a:lnSpc>
                <a:spcPts val="340"/>
              </a:lnSpc>
            </a:pPr>
            <a:r>
              <a:rPr lang="en-US" b="true" sz="680">
                <a:solidFill>
                  <a:srgbClr val="5E6872"/>
                </a:solidFill>
                <a:latin typeface="DejaVu Sans Bold"/>
                <a:ea typeface="DejaVu Sans Bold"/>
                <a:cs typeface="DejaVu Sans Bold"/>
                <a:sym typeface="DejaVu Sans Bold"/>
              </a:rPr>
              <a:t>JOB TITLE</a:t>
            </a:r>
          </a:p>
          <a:p>
            <a:pPr algn="l">
              <a:lnSpc>
                <a:spcPts val="409"/>
              </a:lnSpc>
            </a:pPr>
            <a:r>
              <a:rPr lang="en-US" b="true" sz="819">
                <a:solidFill>
                  <a:srgbClr val="182533"/>
                </a:solidFill>
                <a:latin typeface="DejaVu Sans Bold"/>
                <a:ea typeface="DejaVu Sans Bold"/>
                <a:cs typeface="DejaVu Sans Bold"/>
                <a:sym typeface="DejaVu Sans Bold"/>
              </a:rPr>
              <a:t>Information Technology Intern</a:t>
            </a:r>
          </a:p>
        </p:txBody>
      </p:sp>
      <p:sp>
        <p:nvSpPr>
          <p:cNvPr name="TextBox 21" id="21"/>
          <p:cNvSpPr txBox="true"/>
          <p:nvPr/>
        </p:nvSpPr>
        <p:spPr>
          <a:xfrm rot="0">
            <a:off x="1016003" y="2436047"/>
            <a:ext cx="1847802" cy="290579"/>
          </a:xfrm>
          <a:prstGeom prst="rect">
            <a:avLst/>
          </a:prstGeom>
        </p:spPr>
        <p:txBody>
          <a:bodyPr anchor="t" rtlCol="false" tIns="0" lIns="0" bIns="0" rIns="0">
            <a:spAutoFit/>
          </a:bodyPr>
          <a:lstStyle/>
          <a:p>
            <a:pPr algn="l">
              <a:lnSpc>
                <a:spcPts val="340"/>
              </a:lnSpc>
            </a:pPr>
            <a:r>
              <a:rPr lang="en-US" b="true" sz="680">
                <a:solidFill>
                  <a:srgbClr val="5E6872"/>
                </a:solidFill>
                <a:latin typeface="DejaVu Sans Bold"/>
                <a:ea typeface="DejaVu Sans Bold"/>
                <a:cs typeface="DejaVu Sans Bold"/>
                <a:sym typeface="DejaVu Sans Bold"/>
              </a:rPr>
              <a:t>LOCATION / SETUP</a:t>
            </a:r>
          </a:p>
          <a:p>
            <a:pPr algn="l">
              <a:lnSpc>
                <a:spcPts val="409"/>
              </a:lnSpc>
            </a:pPr>
            <a:r>
              <a:rPr lang="en-US" b="true" sz="819">
                <a:solidFill>
                  <a:srgbClr val="182533"/>
                </a:solidFill>
                <a:latin typeface="DejaVu Sans Bold"/>
                <a:ea typeface="DejaVu Sans Bold"/>
                <a:cs typeface="DejaVu Sans Bold"/>
                <a:sym typeface="DejaVu Sans Bold"/>
              </a:rPr>
              <a:t>Remote or Hybrid – Philippines</a:t>
            </a:r>
          </a:p>
        </p:txBody>
      </p:sp>
      <p:sp>
        <p:nvSpPr>
          <p:cNvPr name="TextBox 22" id="22"/>
          <p:cNvSpPr txBox="true"/>
          <p:nvPr/>
        </p:nvSpPr>
        <p:spPr>
          <a:xfrm rot="0">
            <a:off x="1016003" y="3756850"/>
            <a:ext cx="5223177" cy="449323"/>
          </a:xfrm>
          <a:prstGeom prst="rect">
            <a:avLst/>
          </a:prstGeom>
        </p:spPr>
        <p:txBody>
          <a:bodyPr anchor="t" rtlCol="false" tIns="0" lIns="0" bIns="0" rIns="0">
            <a:spAutoFit/>
          </a:bodyPr>
          <a:lstStyle/>
          <a:p>
            <a:pPr algn="l">
              <a:lnSpc>
                <a:spcPts val="788"/>
              </a:lnSpc>
            </a:pPr>
            <a:r>
              <a:rPr lang="en-US" b="true" sz="680">
                <a:solidFill>
                  <a:srgbClr val="5E6872"/>
                </a:solidFill>
                <a:latin typeface="DejaVu Sans Bold"/>
                <a:ea typeface="DejaVu Sans Bold"/>
                <a:cs typeface="DejaVu Sans Bold"/>
                <a:sym typeface="DejaVu Sans Bold"/>
              </a:rPr>
              <a:t>OPPORTUNITY DESCRIPTION</a:t>
            </a:r>
          </a:p>
          <a:p>
            <a:pPr algn="l">
              <a:lnSpc>
                <a:spcPts val="950"/>
              </a:lnSpc>
            </a:pPr>
            <a:r>
              <a:rPr lang="en-US" b="true" sz="819">
                <a:solidFill>
                  <a:srgbClr val="182533"/>
                </a:solidFill>
                <a:latin typeface="DejaVu Sans Bold"/>
                <a:ea typeface="DejaVu Sans Bold"/>
                <a:cs typeface="DejaVu Sans Bold"/>
                <a:sym typeface="DejaVu Sans Bold"/>
              </a:rPr>
              <a:t>Internship duties may include technical support, documentation, software setup, basic troubleshooting, user assistance, and participation in supervised IT projects.</a:t>
            </a:r>
          </a:p>
        </p:txBody>
      </p:sp>
      <p:sp>
        <p:nvSpPr>
          <p:cNvPr name="TextBox 23" id="23"/>
          <p:cNvSpPr txBox="true"/>
          <p:nvPr/>
        </p:nvSpPr>
        <p:spPr>
          <a:xfrm rot="0">
            <a:off x="1016003" y="3096454"/>
            <a:ext cx="4034857" cy="290579"/>
          </a:xfrm>
          <a:prstGeom prst="rect">
            <a:avLst/>
          </a:prstGeom>
        </p:spPr>
        <p:txBody>
          <a:bodyPr anchor="t" rtlCol="false" tIns="0" lIns="0" bIns="0" rIns="0">
            <a:spAutoFit/>
          </a:bodyPr>
          <a:lstStyle/>
          <a:p>
            <a:pPr algn="l">
              <a:lnSpc>
                <a:spcPts val="340"/>
              </a:lnSpc>
            </a:pPr>
            <a:r>
              <a:rPr lang="en-US" b="true" sz="680">
                <a:solidFill>
                  <a:srgbClr val="5E6872"/>
                </a:solidFill>
                <a:latin typeface="DejaVu Sans Bold"/>
                <a:ea typeface="DejaVu Sans Bold"/>
                <a:cs typeface="DejaVu Sans Bold"/>
                <a:sym typeface="DejaVu Sans Bold"/>
              </a:rPr>
              <a:t>LISTING SOURCE / ACCESS DATE</a:t>
            </a:r>
          </a:p>
          <a:p>
            <a:pPr algn="l">
              <a:lnSpc>
                <a:spcPts val="409"/>
              </a:lnSpc>
            </a:pPr>
            <a:r>
              <a:rPr lang="en-US" b="true" sz="819">
                <a:solidFill>
                  <a:srgbClr val="182533"/>
                </a:solidFill>
                <a:latin typeface="DejaVu Sans Bold"/>
                <a:ea typeface="DejaVu Sans Bold"/>
                <a:cs typeface="DejaVu Sans Bold"/>
                <a:sym typeface="DejaVu Sans Bold"/>
              </a:rPr>
              <a:t>School career portal / online job listing – reviewed September 2026</a:t>
            </a:r>
          </a:p>
        </p:txBody>
      </p:sp>
      <p:sp>
        <p:nvSpPr>
          <p:cNvPr name="TextBox 24" id="24"/>
          <p:cNvSpPr txBox="true"/>
          <p:nvPr/>
        </p:nvSpPr>
        <p:spPr>
          <a:xfrm rot="0">
            <a:off x="4254503" y="2397947"/>
            <a:ext cx="2306145" cy="449323"/>
          </a:xfrm>
          <a:prstGeom prst="rect">
            <a:avLst/>
          </a:prstGeom>
        </p:spPr>
        <p:txBody>
          <a:bodyPr anchor="t" rtlCol="false" tIns="0" lIns="0" bIns="0" rIns="0">
            <a:spAutoFit/>
          </a:bodyPr>
          <a:lstStyle/>
          <a:p>
            <a:pPr algn="l">
              <a:lnSpc>
                <a:spcPts val="788"/>
              </a:lnSpc>
            </a:pPr>
            <a:r>
              <a:rPr lang="en-US" b="true" sz="680">
                <a:solidFill>
                  <a:srgbClr val="5E6872"/>
                </a:solidFill>
                <a:latin typeface="DejaVu Sans Bold"/>
                <a:ea typeface="DejaVu Sans Bold"/>
                <a:cs typeface="DejaVu Sans Bold"/>
                <a:sym typeface="DejaVu Sans Bold"/>
              </a:rPr>
              <a:t>COMPENSATION &amp; TERM</a:t>
            </a:r>
          </a:p>
          <a:p>
            <a:pPr algn="l">
              <a:lnSpc>
                <a:spcPts val="950"/>
              </a:lnSpc>
            </a:pPr>
            <a:r>
              <a:rPr lang="en-US" b="true" sz="819">
                <a:solidFill>
                  <a:srgbClr val="182533"/>
                </a:solidFill>
                <a:latin typeface="DejaVu Sans Bold"/>
                <a:ea typeface="DejaVu Sans Bold"/>
                <a:cs typeface="DejaVu Sans Bold"/>
                <a:sym typeface="DejaVu Sans Bold"/>
              </a:rPr>
              <a:t>Internship allowance / school-required hours</a:t>
            </a:r>
          </a:p>
        </p:txBody>
      </p:sp>
      <p:sp>
        <p:nvSpPr>
          <p:cNvPr name="TextBox 25" id="25"/>
          <p:cNvSpPr txBox="true"/>
          <p:nvPr/>
        </p:nvSpPr>
        <p:spPr>
          <a:xfrm rot="0">
            <a:off x="4254503" y="1775650"/>
            <a:ext cx="1819532" cy="290579"/>
          </a:xfrm>
          <a:prstGeom prst="rect">
            <a:avLst/>
          </a:prstGeom>
        </p:spPr>
        <p:txBody>
          <a:bodyPr anchor="t" rtlCol="false" tIns="0" lIns="0" bIns="0" rIns="0">
            <a:spAutoFit/>
          </a:bodyPr>
          <a:lstStyle/>
          <a:p>
            <a:pPr algn="l">
              <a:lnSpc>
                <a:spcPts val="340"/>
              </a:lnSpc>
            </a:pPr>
            <a:r>
              <a:rPr lang="en-US" b="true" sz="680">
                <a:solidFill>
                  <a:srgbClr val="5E6872"/>
                </a:solidFill>
                <a:latin typeface="DejaVu Sans Bold"/>
                <a:ea typeface="DejaVu Sans Bold"/>
                <a:cs typeface="DejaVu Sans Bold"/>
                <a:sym typeface="DejaVu Sans Bold"/>
              </a:rPr>
              <a:t>COMPANY / ORGANIZATION</a:t>
            </a:r>
          </a:p>
          <a:p>
            <a:pPr algn="l">
              <a:lnSpc>
                <a:spcPts val="409"/>
              </a:lnSpc>
            </a:pPr>
            <a:r>
              <a:rPr lang="en-US" b="true" sz="819">
                <a:solidFill>
                  <a:srgbClr val="182533"/>
                </a:solidFill>
                <a:latin typeface="DejaVu Sans Bold"/>
                <a:ea typeface="DejaVu Sans Bold"/>
                <a:cs typeface="DejaVu Sans Bold"/>
                <a:sym typeface="DejaVu Sans Bold"/>
              </a:rPr>
              <a:t>IT Support / Technology Office</a:t>
            </a:r>
          </a:p>
        </p:txBody>
      </p:sp>
      <p:sp>
        <p:nvSpPr>
          <p:cNvPr name="TextBox 26" id="26"/>
          <p:cNvSpPr txBox="true"/>
          <p:nvPr/>
        </p:nvSpPr>
        <p:spPr>
          <a:xfrm rot="0">
            <a:off x="1041397" y="4955686"/>
            <a:ext cx="4689920" cy="1036920"/>
          </a:xfrm>
          <a:prstGeom prst="rect">
            <a:avLst/>
          </a:prstGeom>
        </p:spPr>
        <p:txBody>
          <a:bodyPr anchor="t" rtlCol="false" tIns="0" lIns="0" bIns="0" rIns="0">
            <a:spAutoFit/>
          </a:bodyPr>
          <a:lstStyle/>
          <a:p>
            <a:pPr algn="l">
              <a:lnSpc>
                <a:spcPts val="2025"/>
              </a:lnSpc>
            </a:pPr>
            <a:r>
              <a:rPr lang="en-US" sz="810">
                <a:solidFill>
                  <a:srgbClr val="5E6872"/>
                </a:solidFill>
                <a:latin typeface="DejaVu Sans Light"/>
                <a:ea typeface="DejaVu Sans Light"/>
                <a:cs typeface="DejaVu Sans Light"/>
                <a:sym typeface="DejaVu Sans Light"/>
              </a:rPr>
              <a:t>• Position details should be checked against the employer's current official listing.</a:t>
            </a:r>
          </a:p>
          <a:p>
            <a:pPr algn="l">
              <a:lnSpc>
                <a:spcPts val="2025"/>
              </a:lnSpc>
            </a:pPr>
            <a:r>
              <a:rPr lang="en-US" sz="810">
                <a:solidFill>
                  <a:srgbClr val="5E6872"/>
                </a:solidFill>
                <a:latin typeface="DejaVu Sans Light"/>
                <a:ea typeface="DejaVu Sans Light"/>
                <a:cs typeface="DejaVu Sans Light"/>
                <a:sym typeface="DejaVu Sans Light"/>
              </a:rPr>
              <a:t>• Confirm the schedule, duties, requirements, and compensation before applying.</a:t>
            </a:r>
          </a:p>
          <a:p>
            <a:pPr algn="l">
              <a:lnSpc>
                <a:spcPts val="2025"/>
              </a:lnSpc>
            </a:pPr>
            <a:r>
              <a:rPr lang="en-US" sz="810">
                <a:solidFill>
                  <a:srgbClr val="5E6872"/>
                </a:solidFill>
                <a:latin typeface="DejaVu Sans Light"/>
                <a:ea typeface="DejaVu Sans Light"/>
                <a:cs typeface="DejaVu Sans Light"/>
                <a:sym typeface="DejaVu Sans Light"/>
              </a:rPr>
              <a:t>• Use only publicly available professional information when documenting an opportunity. • Keep screenshots or source records as supporting evidence for the portfolio.</a:t>
            </a:r>
          </a:p>
        </p:txBody>
      </p:sp>
      <p:sp>
        <p:nvSpPr>
          <p:cNvPr name="TextBox 27" id="27"/>
          <p:cNvSpPr txBox="true"/>
          <p:nvPr/>
        </p:nvSpPr>
        <p:spPr>
          <a:xfrm rot="0">
            <a:off x="888997" y="10277856"/>
            <a:ext cx="2196989" cy="142018"/>
          </a:xfrm>
          <a:prstGeom prst="rect">
            <a:avLst/>
          </a:prstGeom>
        </p:spPr>
        <p:txBody>
          <a:bodyPr anchor="t" rtlCol="false" tIns="0" lIns="0" bIns="0" rIns="0">
            <a:spAutoFit/>
          </a:bodyPr>
          <a:lstStyle/>
          <a:p>
            <a:pPr algn="l">
              <a:lnSpc>
                <a:spcPts val="1050"/>
              </a:lnSpc>
            </a:pPr>
            <a:r>
              <a:rPr lang="en-US" sz="750">
                <a:solidFill>
                  <a:srgbClr val="5E6872"/>
                </a:solidFill>
                <a:latin typeface="DejaVu Sans Light"/>
                <a:ea typeface="DejaVu Sans Light"/>
                <a:cs typeface="DejaVu Sans Light"/>
                <a:sym typeface="DejaVu Sans Light"/>
              </a:rPr>
              <a:t>Randy L. Pangilinan Jr. • Employer Reference</a:t>
            </a:r>
          </a:p>
        </p:txBody>
      </p:sp>
      <p:sp>
        <p:nvSpPr>
          <p:cNvPr name="TextBox 28" id="28"/>
          <p:cNvSpPr txBox="true"/>
          <p:nvPr/>
        </p:nvSpPr>
        <p:spPr>
          <a:xfrm rot="0">
            <a:off x="6345250" y="10277856"/>
            <a:ext cx="332261" cy="142018"/>
          </a:xfrm>
          <a:prstGeom prst="rect">
            <a:avLst/>
          </a:prstGeom>
        </p:spPr>
        <p:txBody>
          <a:bodyPr anchor="t" rtlCol="false" tIns="0" lIns="0" bIns="0" rIns="0">
            <a:spAutoFit/>
          </a:bodyPr>
          <a:lstStyle/>
          <a:p>
            <a:pPr algn="l">
              <a:lnSpc>
                <a:spcPts val="1050"/>
              </a:lnSpc>
            </a:pPr>
            <a:r>
              <a:rPr lang="en-US" sz="750">
                <a:solidFill>
                  <a:srgbClr val="5E6872"/>
                </a:solidFill>
                <a:latin typeface="DejaVu Sans Light"/>
                <a:ea typeface="DejaVu Sans Light"/>
                <a:cs typeface="DejaVu Sans Light"/>
                <a:sym typeface="DejaVu Sans Light"/>
              </a:rPr>
              <a:t>Page 4</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88997" y="1233173"/>
            <a:ext cx="5781999" cy="22860"/>
            <a:chOff x="0" y="0"/>
            <a:chExt cx="5782005" cy="22860"/>
          </a:xfrm>
        </p:grpSpPr>
        <p:sp>
          <p:nvSpPr>
            <p:cNvPr name="Freeform 3" id="3"/>
            <p:cNvSpPr/>
            <p:nvPr/>
          </p:nvSpPr>
          <p:spPr>
            <a:xfrm flipH="false" flipV="false" rot="0">
              <a:off x="0" y="0"/>
              <a:ext cx="5782061" cy="22860"/>
            </a:xfrm>
            <a:custGeom>
              <a:avLst/>
              <a:gdLst/>
              <a:ahLst/>
              <a:cxnLst/>
              <a:rect r="r" b="b" t="t" l="l"/>
              <a:pathLst>
                <a:path h="22860" w="5782061">
                  <a:moveTo>
                    <a:pt x="0" y="0"/>
                  </a:moveTo>
                  <a:lnTo>
                    <a:pt x="5782061" y="0"/>
                  </a:lnTo>
                  <a:lnTo>
                    <a:pt x="5782061" y="22860"/>
                  </a:lnTo>
                  <a:lnTo>
                    <a:pt x="0" y="22860"/>
                  </a:lnTo>
                  <a:close/>
                </a:path>
              </a:pathLst>
            </a:custGeom>
            <a:solidFill>
              <a:srgbClr val="1D5FA7"/>
            </a:solidFill>
          </p:spPr>
        </p:sp>
      </p:grpSp>
      <p:grpSp>
        <p:nvGrpSpPr>
          <p:cNvPr name="Group 4" id="4"/>
          <p:cNvGrpSpPr/>
          <p:nvPr/>
        </p:nvGrpSpPr>
        <p:grpSpPr>
          <a:xfrm rot="0">
            <a:off x="888997" y="10154155"/>
            <a:ext cx="5781999" cy="8887"/>
            <a:chOff x="0" y="0"/>
            <a:chExt cx="5782005" cy="8890"/>
          </a:xfrm>
        </p:grpSpPr>
        <p:sp>
          <p:nvSpPr>
            <p:cNvPr name="Freeform 5" id="5"/>
            <p:cNvSpPr/>
            <p:nvPr/>
          </p:nvSpPr>
          <p:spPr>
            <a:xfrm flipH="false" flipV="false" rot="0">
              <a:off x="0" y="0"/>
              <a:ext cx="5782061" cy="8890"/>
            </a:xfrm>
            <a:custGeom>
              <a:avLst/>
              <a:gdLst/>
              <a:ahLst/>
              <a:cxnLst/>
              <a:rect r="r" b="b" t="t" l="l"/>
              <a:pathLst>
                <a:path h="8890" w="5782061">
                  <a:moveTo>
                    <a:pt x="0" y="0"/>
                  </a:moveTo>
                  <a:lnTo>
                    <a:pt x="5782061" y="0"/>
                  </a:lnTo>
                  <a:lnTo>
                    <a:pt x="5782061" y="8890"/>
                  </a:lnTo>
                  <a:lnTo>
                    <a:pt x="0" y="8890"/>
                  </a:lnTo>
                  <a:close/>
                </a:path>
              </a:pathLst>
            </a:custGeom>
            <a:solidFill>
              <a:srgbClr val="D9E2EE"/>
            </a:solidFill>
          </p:spPr>
        </p:sp>
      </p:grpSp>
      <p:sp>
        <p:nvSpPr>
          <p:cNvPr name="Freeform 6" id="6"/>
          <p:cNvSpPr/>
          <p:nvPr/>
        </p:nvSpPr>
        <p:spPr>
          <a:xfrm flipH="false" flipV="false" rot="0">
            <a:off x="820417" y="1671323"/>
            <a:ext cx="5915663" cy="1026157"/>
          </a:xfrm>
          <a:custGeom>
            <a:avLst/>
            <a:gdLst/>
            <a:ahLst/>
            <a:cxnLst/>
            <a:rect r="r" b="b" t="t" l="l"/>
            <a:pathLst>
              <a:path h="1026157" w="5915663">
                <a:moveTo>
                  <a:pt x="0" y="0"/>
                </a:moveTo>
                <a:lnTo>
                  <a:pt x="5915663" y="0"/>
                </a:lnTo>
                <a:lnTo>
                  <a:pt x="5915663" y="1026157"/>
                </a:lnTo>
                <a:lnTo>
                  <a:pt x="0" y="102615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820417" y="5963917"/>
            <a:ext cx="5915663" cy="1153163"/>
          </a:xfrm>
          <a:custGeom>
            <a:avLst/>
            <a:gdLst/>
            <a:ahLst/>
            <a:cxnLst/>
            <a:rect r="r" b="b" t="t" l="l"/>
            <a:pathLst>
              <a:path h="1153163" w="5915663">
                <a:moveTo>
                  <a:pt x="0" y="0"/>
                </a:moveTo>
                <a:lnTo>
                  <a:pt x="5915663" y="0"/>
                </a:lnTo>
                <a:lnTo>
                  <a:pt x="5915663" y="1153163"/>
                </a:lnTo>
                <a:lnTo>
                  <a:pt x="0" y="115316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820417" y="7653023"/>
            <a:ext cx="5915663" cy="1305563"/>
          </a:xfrm>
          <a:custGeom>
            <a:avLst/>
            <a:gdLst/>
            <a:ahLst/>
            <a:cxnLst/>
            <a:rect r="r" b="b" t="t" l="l"/>
            <a:pathLst>
              <a:path h="1305563" w="5915663">
                <a:moveTo>
                  <a:pt x="0" y="0"/>
                </a:moveTo>
                <a:lnTo>
                  <a:pt x="5915663" y="0"/>
                </a:lnTo>
                <a:lnTo>
                  <a:pt x="5915663" y="1305563"/>
                </a:lnTo>
                <a:lnTo>
                  <a:pt x="0" y="130556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9" id="9"/>
          <p:cNvGrpSpPr/>
          <p:nvPr/>
        </p:nvGrpSpPr>
        <p:grpSpPr>
          <a:xfrm rot="0">
            <a:off x="3111503" y="1468117"/>
            <a:ext cx="3559502" cy="10163"/>
            <a:chOff x="0" y="0"/>
            <a:chExt cx="3559505" cy="10160"/>
          </a:xfrm>
        </p:grpSpPr>
        <p:sp>
          <p:nvSpPr>
            <p:cNvPr name="Freeform 10" id="10"/>
            <p:cNvSpPr/>
            <p:nvPr/>
          </p:nvSpPr>
          <p:spPr>
            <a:xfrm flipH="false" flipV="false" rot="0">
              <a:off x="0" y="0"/>
              <a:ext cx="3559561" cy="10160"/>
            </a:xfrm>
            <a:custGeom>
              <a:avLst/>
              <a:gdLst/>
              <a:ahLst/>
              <a:cxnLst/>
              <a:rect r="r" b="b" t="t" l="l"/>
              <a:pathLst>
                <a:path h="10160" w="3559561">
                  <a:moveTo>
                    <a:pt x="0" y="0"/>
                  </a:moveTo>
                  <a:lnTo>
                    <a:pt x="3559561" y="0"/>
                  </a:lnTo>
                  <a:lnTo>
                    <a:pt x="3559561" y="10160"/>
                  </a:lnTo>
                  <a:lnTo>
                    <a:pt x="0" y="10160"/>
                  </a:lnTo>
                  <a:close/>
                </a:path>
              </a:pathLst>
            </a:custGeom>
            <a:solidFill>
              <a:srgbClr val="D9E2EE"/>
            </a:solidFill>
          </p:spPr>
        </p:sp>
      </p:grpSp>
      <p:sp>
        <p:nvSpPr>
          <p:cNvPr name="Freeform 11" id="11"/>
          <p:cNvSpPr/>
          <p:nvPr/>
        </p:nvSpPr>
        <p:spPr>
          <a:xfrm flipH="false" flipV="false" rot="0">
            <a:off x="820417" y="3258817"/>
            <a:ext cx="5915663" cy="1000763"/>
          </a:xfrm>
          <a:custGeom>
            <a:avLst/>
            <a:gdLst/>
            <a:ahLst/>
            <a:cxnLst/>
            <a:rect r="r" b="b" t="t" l="l"/>
            <a:pathLst>
              <a:path h="1000763" w="5915663">
                <a:moveTo>
                  <a:pt x="0" y="0"/>
                </a:moveTo>
                <a:lnTo>
                  <a:pt x="5915663" y="0"/>
                </a:lnTo>
                <a:lnTo>
                  <a:pt x="5915663" y="1000763"/>
                </a:lnTo>
                <a:lnTo>
                  <a:pt x="0" y="100076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0">
            <a:off x="820417" y="4312920"/>
            <a:ext cx="5915663" cy="1000763"/>
          </a:xfrm>
          <a:custGeom>
            <a:avLst/>
            <a:gdLst/>
            <a:ahLst/>
            <a:cxnLst/>
            <a:rect r="r" b="b" t="t" l="l"/>
            <a:pathLst>
              <a:path h="1000763" w="5915663">
                <a:moveTo>
                  <a:pt x="0" y="0"/>
                </a:moveTo>
                <a:lnTo>
                  <a:pt x="5915663" y="0"/>
                </a:lnTo>
                <a:lnTo>
                  <a:pt x="5915663" y="1000763"/>
                </a:lnTo>
                <a:lnTo>
                  <a:pt x="0" y="1000763"/>
                </a:lnTo>
                <a:lnTo>
                  <a:pt x="0" y="0"/>
                </a:lnTo>
                <a:close/>
              </a:path>
            </a:pathLst>
          </a:custGeom>
          <a:blipFill>
            <a:blip r:embed="rId8">
              <a:extLst>
                <a:ext uri="{96DAC541-7B7A-43D3-8B79-37D633B846F1}">
                  <asvg:svgBlip xmlns:asvg="http://schemas.microsoft.com/office/drawing/2016/SVG/main" r:embed="rId10"/>
                </a:ext>
              </a:extLst>
            </a:blip>
            <a:stretch>
              <a:fillRect l="0" t="0" r="0" b="0"/>
            </a:stretch>
          </a:blipFill>
        </p:spPr>
      </p:sp>
      <p:grpSp>
        <p:nvGrpSpPr>
          <p:cNvPr name="Group 13" id="13"/>
          <p:cNvGrpSpPr/>
          <p:nvPr/>
        </p:nvGrpSpPr>
        <p:grpSpPr>
          <a:xfrm rot="0">
            <a:off x="4064003" y="2941320"/>
            <a:ext cx="2607002" cy="10163"/>
            <a:chOff x="0" y="0"/>
            <a:chExt cx="2607005" cy="10160"/>
          </a:xfrm>
        </p:grpSpPr>
        <p:sp>
          <p:nvSpPr>
            <p:cNvPr name="Freeform 14" id="14"/>
            <p:cNvSpPr/>
            <p:nvPr/>
          </p:nvSpPr>
          <p:spPr>
            <a:xfrm flipH="false" flipV="false" rot="0">
              <a:off x="0" y="0"/>
              <a:ext cx="2607061" cy="10160"/>
            </a:xfrm>
            <a:custGeom>
              <a:avLst/>
              <a:gdLst/>
              <a:ahLst/>
              <a:cxnLst/>
              <a:rect r="r" b="b" t="t" l="l"/>
              <a:pathLst>
                <a:path h="10160" w="2607061">
                  <a:moveTo>
                    <a:pt x="0" y="0"/>
                  </a:moveTo>
                  <a:lnTo>
                    <a:pt x="2607061" y="0"/>
                  </a:lnTo>
                  <a:lnTo>
                    <a:pt x="2607061" y="10160"/>
                  </a:lnTo>
                  <a:lnTo>
                    <a:pt x="0" y="10160"/>
                  </a:lnTo>
                  <a:close/>
                </a:path>
              </a:pathLst>
            </a:custGeom>
            <a:solidFill>
              <a:srgbClr val="D9E2EE"/>
            </a:solidFill>
          </p:spPr>
        </p:sp>
      </p:grpSp>
      <p:grpSp>
        <p:nvGrpSpPr>
          <p:cNvPr name="Group 15" id="15"/>
          <p:cNvGrpSpPr/>
          <p:nvPr/>
        </p:nvGrpSpPr>
        <p:grpSpPr>
          <a:xfrm rot="0">
            <a:off x="4191000" y="7348223"/>
            <a:ext cx="2479996" cy="10163"/>
            <a:chOff x="0" y="0"/>
            <a:chExt cx="2480005" cy="10160"/>
          </a:xfrm>
        </p:grpSpPr>
        <p:sp>
          <p:nvSpPr>
            <p:cNvPr name="Freeform 16" id="16"/>
            <p:cNvSpPr/>
            <p:nvPr/>
          </p:nvSpPr>
          <p:spPr>
            <a:xfrm flipH="false" flipV="false" rot="0">
              <a:off x="0" y="0"/>
              <a:ext cx="2480061" cy="10160"/>
            </a:xfrm>
            <a:custGeom>
              <a:avLst/>
              <a:gdLst/>
              <a:ahLst/>
              <a:cxnLst/>
              <a:rect r="r" b="b" t="t" l="l"/>
              <a:pathLst>
                <a:path h="10160" w="2480061">
                  <a:moveTo>
                    <a:pt x="0" y="0"/>
                  </a:moveTo>
                  <a:lnTo>
                    <a:pt x="2480061" y="0"/>
                  </a:lnTo>
                  <a:lnTo>
                    <a:pt x="2480061" y="10160"/>
                  </a:lnTo>
                  <a:lnTo>
                    <a:pt x="0" y="10160"/>
                  </a:lnTo>
                  <a:close/>
                </a:path>
              </a:pathLst>
            </a:custGeom>
            <a:solidFill>
              <a:srgbClr val="D9E2EE"/>
            </a:solidFill>
          </p:spPr>
        </p:sp>
      </p:grpSp>
      <p:grpSp>
        <p:nvGrpSpPr>
          <p:cNvPr name="Group 17" id="17"/>
          <p:cNvGrpSpPr/>
          <p:nvPr/>
        </p:nvGrpSpPr>
        <p:grpSpPr>
          <a:xfrm rot="0">
            <a:off x="4953000" y="5735317"/>
            <a:ext cx="1717996" cy="10163"/>
            <a:chOff x="0" y="0"/>
            <a:chExt cx="1718005" cy="10160"/>
          </a:xfrm>
        </p:grpSpPr>
        <p:sp>
          <p:nvSpPr>
            <p:cNvPr name="Freeform 18" id="18"/>
            <p:cNvSpPr/>
            <p:nvPr/>
          </p:nvSpPr>
          <p:spPr>
            <a:xfrm flipH="false" flipV="false" rot="0">
              <a:off x="0" y="0"/>
              <a:ext cx="1718061" cy="10160"/>
            </a:xfrm>
            <a:custGeom>
              <a:avLst/>
              <a:gdLst/>
              <a:ahLst/>
              <a:cxnLst/>
              <a:rect r="r" b="b" t="t" l="l"/>
              <a:pathLst>
                <a:path h="10160" w="1718061">
                  <a:moveTo>
                    <a:pt x="0" y="0"/>
                  </a:moveTo>
                  <a:lnTo>
                    <a:pt x="1718061" y="0"/>
                  </a:lnTo>
                  <a:lnTo>
                    <a:pt x="1718061" y="10160"/>
                  </a:lnTo>
                  <a:lnTo>
                    <a:pt x="0" y="10160"/>
                  </a:lnTo>
                  <a:close/>
                </a:path>
              </a:pathLst>
            </a:custGeom>
            <a:solidFill>
              <a:srgbClr val="D9E2EE"/>
            </a:solidFill>
          </p:spPr>
        </p:sp>
      </p:grpSp>
      <p:sp>
        <p:nvSpPr>
          <p:cNvPr name="TextBox 19" id="19"/>
          <p:cNvSpPr txBox="true"/>
          <p:nvPr/>
        </p:nvSpPr>
        <p:spPr>
          <a:xfrm rot="0">
            <a:off x="888997" y="653729"/>
            <a:ext cx="4699435" cy="916676"/>
          </a:xfrm>
          <a:prstGeom prst="rect">
            <a:avLst/>
          </a:prstGeom>
        </p:spPr>
        <p:txBody>
          <a:bodyPr anchor="t" rtlCol="false" tIns="0" lIns="0" bIns="0" rIns="0">
            <a:spAutoFit/>
          </a:bodyPr>
          <a:lstStyle/>
          <a:p>
            <a:pPr algn="l">
              <a:lnSpc>
                <a:spcPts val="3079"/>
              </a:lnSpc>
            </a:pPr>
            <a:r>
              <a:rPr lang="en-US" b="true" sz="2199">
                <a:solidFill>
                  <a:srgbClr val="182533"/>
                </a:solidFill>
                <a:latin typeface="DejaVu Sans Bold"/>
                <a:ea typeface="DejaVu Sans Bold"/>
                <a:cs typeface="DejaVu Sans Bold"/>
                <a:sym typeface="DejaVu Sans Bold"/>
              </a:rPr>
              <a:t>PROCESS &amp; INTEGRITY NOTE</a:t>
            </a:r>
          </a:p>
          <a:p>
            <a:pPr algn="l">
              <a:lnSpc>
                <a:spcPts val="1470"/>
              </a:lnSpc>
            </a:pPr>
            <a:r>
              <a:rPr lang="en-US" b="true" sz="1050">
                <a:solidFill>
                  <a:srgbClr val="182533"/>
                </a:solidFill>
                <a:latin typeface="DejaVu Sans Bold"/>
                <a:ea typeface="DejaVu Sans Bold"/>
                <a:cs typeface="DejaVu Sans Bold"/>
                <a:sym typeface="DejaVu Sans Bold"/>
              </a:rPr>
              <a:t>1. JOB IDENTIFICATION STRATEGY</a:t>
            </a:r>
          </a:p>
        </p:txBody>
      </p:sp>
      <p:sp>
        <p:nvSpPr>
          <p:cNvPr name="TextBox 20" id="20"/>
          <p:cNvSpPr txBox="true"/>
          <p:nvPr/>
        </p:nvSpPr>
        <p:spPr>
          <a:xfrm rot="0">
            <a:off x="888997" y="7261146"/>
            <a:ext cx="3486826" cy="187395"/>
          </a:xfrm>
          <a:prstGeom prst="rect">
            <a:avLst/>
          </a:prstGeom>
        </p:spPr>
        <p:txBody>
          <a:bodyPr anchor="t" rtlCol="false" tIns="0" lIns="0" bIns="0" rIns="0">
            <a:spAutoFit/>
          </a:bodyPr>
          <a:lstStyle/>
          <a:p>
            <a:pPr algn="l">
              <a:lnSpc>
                <a:spcPts val="1470"/>
              </a:lnSpc>
            </a:pPr>
            <a:r>
              <a:rPr lang="en-US" b="true" sz="1050">
                <a:solidFill>
                  <a:srgbClr val="182533"/>
                </a:solidFill>
                <a:latin typeface="DejaVu Sans Bold"/>
                <a:ea typeface="DejaVu Sans Bold"/>
                <a:cs typeface="DejaVu Sans Bold"/>
                <a:sym typeface="DejaVu Sans Bold"/>
              </a:rPr>
              <a:t>4. PRIVACY &amp; DOCUMENT DESIGN RATIONALE</a:t>
            </a:r>
          </a:p>
        </p:txBody>
      </p:sp>
      <p:sp>
        <p:nvSpPr>
          <p:cNvPr name="TextBox 21" id="21"/>
          <p:cNvSpPr txBox="true"/>
          <p:nvPr/>
        </p:nvSpPr>
        <p:spPr>
          <a:xfrm rot="0">
            <a:off x="888997" y="2854242"/>
            <a:ext cx="3605051" cy="187395"/>
          </a:xfrm>
          <a:prstGeom prst="rect">
            <a:avLst/>
          </a:prstGeom>
        </p:spPr>
        <p:txBody>
          <a:bodyPr anchor="t" rtlCol="false" tIns="0" lIns="0" bIns="0" rIns="0">
            <a:spAutoFit/>
          </a:bodyPr>
          <a:lstStyle/>
          <a:p>
            <a:pPr algn="l">
              <a:lnSpc>
                <a:spcPts val="1470"/>
              </a:lnSpc>
            </a:pPr>
            <a:r>
              <a:rPr lang="en-US" b="true" sz="1050">
                <a:solidFill>
                  <a:srgbClr val="182533"/>
                </a:solidFill>
                <a:latin typeface="DejaVu Sans Bold"/>
                <a:ea typeface="DejaVu Sans Bold"/>
                <a:cs typeface="DejaVu Sans Bold"/>
                <a:sym typeface="DejaVu Sans Bold"/>
              </a:rPr>
              <a:t>2. OPPORTUNITY EVALUATION (CABC METHOD)</a:t>
            </a:r>
          </a:p>
        </p:txBody>
      </p:sp>
      <p:sp>
        <p:nvSpPr>
          <p:cNvPr name="TextBox 22" id="22"/>
          <p:cNvSpPr txBox="true"/>
          <p:nvPr/>
        </p:nvSpPr>
        <p:spPr>
          <a:xfrm rot="0">
            <a:off x="888997" y="5648249"/>
            <a:ext cx="4151176" cy="187395"/>
          </a:xfrm>
          <a:prstGeom prst="rect">
            <a:avLst/>
          </a:prstGeom>
        </p:spPr>
        <p:txBody>
          <a:bodyPr anchor="t" rtlCol="false" tIns="0" lIns="0" bIns="0" rIns="0">
            <a:spAutoFit/>
          </a:bodyPr>
          <a:lstStyle/>
          <a:p>
            <a:pPr algn="l">
              <a:lnSpc>
                <a:spcPts val="1470"/>
              </a:lnSpc>
            </a:pPr>
            <a:r>
              <a:rPr lang="en-US" b="true" sz="1050">
                <a:solidFill>
                  <a:srgbClr val="182533"/>
                </a:solidFill>
                <a:latin typeface="DejaVu Sans Bold"/>
                <a:ea typeface="DejaVu Sans Bold"/>
                <a:cs typeface="DejaVu Sans Bold"/>
                <a:sym typeface="DejaVu Sans Bold"/>
              </a:rPr>
              <a:t>3. ARTIFICIAL INTELLIGENCE &amp; INTEGRITY STATEMENT</a:t>
            </a:r>
          </a:p>
        </p:txBody>
      </p:sp>
      <p:sp>
        <p:nvSpPr>
          <p:cNvPr name="TextBox 23" id="23"/>
          <p:cNvSpPr txBox="true"/>
          <p:nvPr/>
        </p:nvSpPr>
        <p:spPr>
          <a:xfrm rot="0">
            <a:off x="1016003" y="4523375"/>
            <a:ext cx="2297430" cy="426968"/>
          </a:xfrm>
          <a:prstGeom prst="rect">
            <a:avLst/>
          </a:prstGeom>
        </p:spPr>
        <p:txBody>
          <a:bodyPr anchor="t" rtlCol="false" tIns="0" lIns="0" bIns="0" rIns="0">
            <a:spAutoFit/>
          </a:bodyPr>
          <a:lstStyle/>
          <a:p>
            <a:pPr algn="l">
              <a:lnSpc>
                <a:spcPts val="1023"/>
              </a:lnSpc>
            </a:pPr>
            <a:r>
              <a:rPr lang="en-US" b="true" sz="830">
                <a:solidFill>
                  <a:srgbClr val="182533"/>
                </a:solidFill>
                <a:latin typeface="DejaVu Sans Bold"/>
                <a:ea typeface="DejaVu Sans Bold"/>
                <a:cs typeface="DejaVu Sans Bold"/>
                <a:sym typeface="DejaVu Sans Bold"/>
              </a:rPr>
              <a:t>Bias (B)</a:t>
            </a:r>
          </a:p>
          <a:p>
            <a:pPr algn="l">
              <a:lnSpc>
                <a:spcPts val="900"/>
              </a:lnSpc>
            </a:pPr>
            <a:r>
              <a:rPr lang="en-US" sz="729">
                <a:solidFill>
                  <a:srgbClr val="5E6872"/>
                </a:solidFill>
                <a:latin typeface="DejaVu Sans Light"/>
                <a:ea typeface="DejaVu Sans Light"/>
                <a:cs typeface="DejaVu Sans Light"/>
                <a:sym typeface="DejaVu Sans Light"/>
              </a:rPr>
              <a:t>Separate factual listing details from promotional language and avoid unsupported claims.</a:t>
            </a:r>
          </a:p>
        </p:txBody>
      </p:sp>
      <p:sp>
        <p:nvSpPr>
          <p:cNvPr name="TextBox 24" id="24"/>
          <p:cNvSpPr txBox="true"/>
          <p:nvPr/>
        </p:nvSpPr>
        <p:spPr>
          <a:xfrm rot="0">
            <a:off x="1016003" y="3469272"/>
            <a:ext cx="2629662" cy="426968"/>
          </a:xfrm>
          <a:prstGeom prst="rect">
            <a:avLst/>
          </a:prstGeom>
        </p:spPr>
        <p:txBody>
          <a:bodyPr anchor="t" rtlCol="false" tIns="0" lIns="0" bIns="0" rIns="0">
            <a:spAutoFit/>
          </a:bodyPr>
          <a:lstStyle/>
          <a:p>
            <a:pPr algn="l">
              <a:lnSpc>
                <a:spcPts val="1023"/>
              </a:lnSpc>
            </a:pPr>
            <a:r>
              <a:rPr lang="en-US" b="true" sz="830">
                <a:solidFill>
                  <a:srgbClr val="182533"/>
                </a:solidFill>
                <a:latin typeface="DejaVu Sans Bold"/>
                <a:ea typeface="DejaVu Sans Bold"/>
                <a:cs typeface="DejaVu Sans Bold"/>
                <a:sym typeface="DejaVu Sans Bold"/>
              </a:rPr>
              <a:t>Credibility (C)</a:t>
            </a:r>
          </a:p>
          <a:p>
            <a:pPr algn="l">
              <a:lnSpc>
                <a:spcPts val="900"/>
              </a:lnSpc>
            </a:pPr>
            <a:r>
              <a:rPr lang="en-US" sz="729">
                <a:solidFill>
                  <a:srgbClr val="5E6872"/>
                </a:solidFill>
                <a:latin typeface="DejaVu Sans Light"/>
                <a:ea typeface="DejaVu Sans Light"/>
                <a:cs typeface="DejaVu Sans Light"/>
                <a:sym typeface="DejaVu Sans Light"/>
              </a:rPr>
              <a:t>Check the employer identity, official profile, and a valid contact or application channel.</a:t>
            </a:r>
          </a:p>
        </p:txBody>
      </p:sp>
      <p:sp>
        <p:nvSpPr>
          <p:cNvPr name="TextBox 25" id="25"/>
          <p:cNvSpPr txBox="true"/>
          <p:nvPr/>
        </p:nvSpPr>
        <p:spPr>
          <a:xfrm rot="0">
            <a:off x="3962400" y="4513850"/>
            <a:ext cx="759400" cy="154124"/>
          </a:xfrm>
          <a:prstGeom prst="rect">
            <a:avLst/>
          </a:prstGeom>
        </p:spPr>
        <p:txBody>
          <a:bodyPr anchor="t" rtlCol="false" tIns="0" lIns="0" bIns="0" rIns="0">
            <a:spAutoFit/>
          </a:bodyPr>
          <a:lstStyle/>
          <a:p>
            <a:pPr algn="l">
              <a:lnSpc>
                <a:spcPts val="1162"/>
              </a:lnSpc>
            </a:pPr>
            <a:r>
              <a:rPr lang="en-US" b="true" sz="830">
                <a:solidFill>
                  <a:srgbClr val="182533"/>
                </a:solidFill>
                <a:latin typeface="DejaVu Sans Bold"/>
                <a:ea typeface="DejaVu Sans Bold"/>
                <a:cs typeface="DejaVu Sans Bold"/>
                <a:sym typeface="DejaVu Sans Bold"/>
              </a:rPr>
              <a:t>Currency (C)</a:t>
            </a:r>
          </a:p>
        </p:txBody>
      </p:sp>
      <p:sp>
        <p:nvSpPr>
          <p:cNvPr name="TextBox 26" id="26"/>
          <p:cNvSpPr txBox="true"/>
          <p:nvPr/>
        </p:nvSpPr>
        <p:spPr>
          <a:xfrm rot="0">
            <a:off x="4288517" y="4696882"/>
            <a:ext cx="30061" cy="138998"/>
          </a:xfrm>
          <a:prstGeom prst="rect">
            <a:avLst/>
          </a:prstGeom>
        </p:spPr>
        <p:txBody>
          <a:bodyPr anchor="t" rtlCol="false" tIns="0" lIns="0" bIns="0" rIns="0">
            <a:spAutoFit/>
          </a:bodyPr>
          <a:lstStyle/>
          <a:p>
            <a:pPr algn="l">
              <a:lnSpc>
                <a:spcPts val="1021"/>
              </a:lnSpc>
            </a:pPr>
            <a:r>
              <a:rPr lang="en-US" sz="729">
                <a:solidFill>
                  <a:srgbClr val="5E6872"/>
                </a:solidFill>
                <a:latin typeface="DejaVu Sans Light"/>
                <a:ea typeface="DejaVu Sans Light"/>
                <a:cs typeface="DejaVu Sans Light"/>
                <a:sym typeface="DejaVu Sans Light"/>
              </a:rPr>
              <a:t> </a:t>
            </a:r>
          </a:p>
        </p:txBody>
      </p:sp>
      <p:sp>
        <p:nvSpPr>
          <p:cNvPr name="TextBox 27" id="27"/>
          <p:cNvSpPr txBox="true"/>
          <p:nvPr/>
        </p:nvSpPr>
        <p:spPr>
          <a:xfrm rot="0">
            <a:off x="3962400" y="3459747"/>
            <a:ext cx="765543" cy="154124"/>
          </a:xfrm>
          <a:prstGeom prst="rect">
            <a:avLst/>
          </a:prstGeom>
        </p:spPr>
        <p:txBody>
          <a:bodyPr anchor="t" rtlCol="false" tIns="0" lIns="0" bIns="0" rIns="0">
            <a:spAutoFit/>
          </a:bodyPr>
          <a:lstStyle/>
          <a:p>
            <a:pPr algn="l">
              <a:lnSpc>
                <a:spcPts val="1162"/>
              </a:lnSpc>
            </a:pPr>
            <a:r>
              <a:rPr lang="en-US" b="true" sz="830">
                <a:solidFill>
                  <a:srgbClr val="182533"/>
                </a:solidFill>
                <a:latin typeface="DejaVu Sans Bold"/>
                <a:ea typeface="DejaVu Sans Bold"/>
                <a:cs typeface="DejaVu Sans Bold"/>
                <a:sym typeface="DejaVu Sans Bold"/>
              </a:rPr>
              <a:t>Accuracy (A)</a:t>
            </a:r>
          </a:p>
        </p:txBody>
      </p:sp>
      <p:sp>
        <p:nvSpPr>
          <p:cNvPr name="TextBox 28" id="28"/>
          <p:cNvSpPr txBox="true"/>
          <p:nvPr/>
        </p:nvSpPr>
        <p:spPr>
          <a:xfrm rot="0">
            <a:off x="4384986" y="3642779"/>
            <a:ext cx="30061" cy="138998"/>
          </a:xfrm>
          <a:prstGeom prst="rect">
            <a:avLst/>
          </a:prstGeom>
        </p:spPr>
        <p:txBody>
          <a:bodyPr anchor="t" rtlCol="false" tIns="0" lIns="0" bIns="0" rIns="0">
            <a:spAutoFit/>
          </a:bodyPr>
          <a:lstStyle/>
          <a:p>
            <a:pPr algn="l">
              <a:lnSpc>
                <a:spcPts val="1021"/>
              </a:lnSpc>
            </a:pPr>
            <a:r>
              <a:rPr lang="en-US" sz="729">
                <a:solidFill>
                  <a:srgbClr val="5E6872"/>
                </a:solidFill>
                <a:latin typeface="DejaVu Sans Light"/>
                <a:ea typeface="DejaVu Sans Light"/>
                <a:cs typeface="DejaVu Sans Light"/>
                <a:sym typeface="DejaVu Sans Light"/>
              </a:rPr>
              <a:t> </a:t>
            </a:r>
          </a:p>
        </p:txBody>
      </p:sp>
      <p:sp>
        <p:nvSpPr>
          <p:cNvPr name="TextBox 29" id="29"/>
          <p:cNvSpPr txBox="true"/>
          <p:nvPr/>
        </p:nvSpPr>
        <p:spPr>
          <a:xfrm rot="0">
            <a:off x="1041397" y="1916030"/>
            <a:ext cx="5386407" cy="411299"/>
          </a:xfrm>
          <a:prstGeom prst="rect">
            <a:avLst/>
          </a:prstGeom>
        </p:spPr>
        <p:txBody>
          <a:bodyPr anchor="t" rtlCol="false" tIns="0" lIns="0" bIns="0" rIns="0">
            <a:spAutoFit/>
          </a:bodyPr>
          <a:lstStyle/>
          <a:p>
            <a:pPr algn="l">
              <a:lnSpc>
                <a:spcPts val="1049"/>
              </a:lnSpc>
            </a:pPr>
            <a:r>
              <a:rPr lang="en-US" sz="830">
                <a:solidFill>
                  <a:srgbClr val="5E6872"/>
                </a:solidFill>
                <a:latin typeface="DejaVu Sans Light"/>
                <a:ea typeface="DejaVu Sans Light"/>
                <a:cs typeface="DejaVu Sans Light"/>
                <a:sym typeface="DejaVu Sans Light"/>
              </a:rPr>
              <a:t>The internship opportunity was identified by using targeted search terms related to information technology internships, remote work, technical support, and student training. Relevant details were reviewed before being included in this portfolio.</a:t>
            </a:r>
          </a:p>
        </p:txBody>
      </p:sp>
      <p:sp>
        <p:nvSpPr>
          <p:cNvPr name="TextBox 30" id="30"/>
          <p:cNvSpPr txBox="true"/>
          <p:nvPr/>
        </p:nvSpPr>
        <p:spPr>
          <a:xfrm rot="0">
            <a:off x="3962400" y="3642779"/>
            <a:ext cx="2482863" cy="138998"/>
          </a:xfrm>
          <a:prstGeom prst="rect">
            <a:avLst/>
          </a:prstGeom>
        </p:spPr>
        <p:txBody>
          <a:bodyPr anchor="t" rtlCol="false" tIns="0" lIns="0" bIns="0" rIns="0">
            <a:spAutoFit/>
          </a:bodyPr>
          <a:lstStyle/>
          <a:p>
            <a:pPr algn="l">
              <a:lnSpc>
                <a:spcPts val="1021"/>
              </a:lnSpc>
            </a:pPr>
            <a:r>
              <a:rPr lang="en-US" sz="729">
                <a:solidFill>
                  <a:srgbClr val="5E6872"/>
                </a:solidFill>
                <a:latin typeface="DejaVu Sans Light"/>
                <a:ea typeface="DejaVu Sans Light"/>
                <a:cs typeface="DejaVu Sans Light"/>
                <a:sym typeface="DejaVu Sans Light"/>
              </a:rPr>
              <a:t>Comparejob duties and requirements with standard</a:t>
            </a:r>
          </a:p>
        </p:txBody>
      </p:sp>
      <p:sp>
        <p:nvSpPr>
          <p:cNvPr name="TextBox 31" id="31"/>
          <p:cNvSpPr txBox="true"/>
          <p:nvPr/>
        </p:nvSpPr>
        <p:spPr>
          <a:xfrm rot="0">
            <a:off x="3962400" y="3757079"/>
            <a:ext cx="1681982" cy="138998"/>
          </a:xfrm>
          <a:prstGeom prst="rect">
            <a:avLst/>
          </a:prstGeom>
        </p:spPr>
        <p:txBody>
          <a:bodyPr anchor="t" rtlCol="false" tIns="0" lIns="0" bIns="0" rIns="0">
            <a:spAutoFit/>
          </a:bodyPr>
          <a:lstStyle/>
          <a:p>
            <a:pPr algn="l">
              <a:lnSpc>
                <a:spcPts val="1021"/>
              </a:lnSpc>
            </a:pPr>
            <a:r>
              <a:rPr lang="en-US" sz="729">
                <a:solidFill>
                  <a:srgbClr val="5E6872"/>
                </a:solidFill>
                <a:latin typeface="DejaVu Sans Light"/>
                <a:ea typeface="DejaVu Sans Light"/>
                <a:cs typeface="DejaVu Sans Light"/>
                <a:sym typeface="DejaVu Sans Light"/>
              </a:rPr>
              <a:t>expectations for IT internship roles.</a:t>
            </a:r>
          </a:p>
        </p:txBody>
      </p:sp>
      <p:sp>
        <p:nvSpPr>
          <p:cNvPr name="TextBox 32" id="32"/>
          <p:cNvSpPr txBox="true"/>
          <p:nvPr/>
        </p:nvSpPr>
        <p:spPr>
          <a:xfrm rot="0">
            <a:off x="3962400" y="4696882"/>
            <a:ext cx="2562787" cy="138998"/>
          </a:xfrm>
          <a:prstGeom prst="rect">
            <a:avLst/>
          </a:prstGeom>
        </p:spPr>
        <p:txBody>
          <a:bodyPr anchor="t" rtlCol="false" tIns="0" lIns="0" bIns="0" rIns="0">
            <a:spAutoFit/>
          </a:bodyPr>
          <a:lstStyle/>
          <a:p>
            <a:pPr algn="l">
              <a:lnSpc>
                <a:spcPts val="1021"/>
              </a:lnSpc>
            </a:pPr>
            <a:r>
              <a:rPr lang="en-US" sz="729">
                <a:solidFill>
                  <a:srgbClr val="5E6872"/>
                </a:solidFill>
                <a:latin typeface="DejaVu Sans Light"/>
                <a:ea typeface="DejaVu Sans Light"/>
                <a:cs typeface="DejaVu Sans Light"/>
                <a:sym typeface="DejaVu Sans Light"/>
              </a:rPr>
              <a:t>Recordthe dateaccessed and verify that the listing is</a:t>
            </a:r>
          </a:p>
        </p:txBody>
      </p:sp>
      <p:sp>
        <p:nvSpPr>
          <p:cNvPr name="TextBox 33" id="33"/>
          <p:cNvSpPr txBox="true"/>
          <p:nvPr/>
        </p:nvSpPr>
        <p:spPr>
          <a:xfrm rot="0">
            <a:off x="3962400" y="4811182"/>
            <a:ext cx="1479318" cy="138998"/>
          </a:xfrm>
          <a:prstGeom prst="rect">
            <a:avLst/>
          </a:prstGeom>
        </p:spPr>
        <p:txBody>
          <a:bodyPr anchor="t" rtlCol="false" tIns="0" lIns="0" bIns="0" rIns="0">
            <a:spAutoFit/>
          </a:bodyPr>
          <a:lstStyle/>
          <a:p>
            <a:pPr algn="l">
              <a:lnSpc>
                <a:spcPts val="1021"/>
              </a:lnSpc>
            </a:pPr>
            <a:r>
              <a:rPr lang="en-US" sz="729">
                <a:solidFill>
                  <a:srgbClr val="5E6872"/>
                </a:solidFill>
                <a:latin typeface="DejaVu Sans Light"/>
                <a:ea typeface="DejaVu Sans Light"/>
                <a:cs typeface="DejaVu Sans Light"/>
                <a:sym typeface="DejaVu Sans Light"/>
              </a:rPr>
              <a:t>still active or recently updated.</a:t>
            </a:r>
          </a:p>
        </p:txBody>
      </p:sp>
      <p:sp>
        <p:nvSpPr>
          <p:cNvPr name="TextBox 34" id="34"/>
          <p:cNvSpPr txBox="true"/>
          <p:nvPr/>
        </p:nvSpPr>
        <p:spPr>
          <a:xfrm rot="0">
            <a:off x="1041397" y="6169800"/>
            <a:ext cx="5463550" cy="408270"/>
          </a:xfrm>
          <a:prstGeom prst="rect">
            <a:avLst/>
          </a:prstGeom>
        </p:spPr>
        <p:txBody>
          <a:bodyPr anchor="t" rtlCol="false" tIns="0" lIns="0" bIns="0" rIns="0">
            <a:spAutoFit/>
          </a:bodyPr>
          <a:lstStyle/>
          <a:p>
            <a:pPr algn="l">
              <a:lnSpc>
                <a:spcPts val="1049"/>
              </a:lnSpc>
            </a:pPr>
            <a:r>
              <a:rPr lang="en-US" sz="810">
                <a:solidFill>
                  <a:srgbClr val="5E6872"/>
                </a:solidFill>
                <a:latin typeface="DejaVu Sans Light"/>
                <a:ea typeface="DejaVu Sans Light"/>
                <a:cs typeface="DejaVu Sans Light"/>
                <a:sym typeface="DejaVu Sans Light"/>
              </a:rPr>
              <a:t>Artificial intelligence may be used only as an auxiliary tool for organizing ideas, improving wording, and formatting the portfolio. Final information should be reviewed by the student. No qualifications, work history, or supporting evidence should be fabricated or exaggerated.</a:t>
            </a:r>
          </a:p>
        </p:txBody>
      </p:sp>
      <p:sp>
        <p:nvSpPr>
          <p:cNvPr name="TextBox 35" id="35"/>
          <p:cNvSpPr txBox="true"/>
          <p:nvPr/>
        </p:nvSpPr>
        <p:spPr>
          <a:xfrm rot="0">
            <a:off x="1041397" y="7782706"/>
            <a:ext cx="5507917" cy="541620"/>
          </a:xfrm>
          <a:prstGeom prst="rect">
            <a:avLst/>
          </a:prstGeom>
        </p:spPr>
        <p:txBody>
          <a:bodyPr anchor="t" rtlCol="false" tIns="0" lIns="0" bIns="0" rIns="0">
            <a:spAutoFit/>
          </a:bodyPr>
          <a:lstStyle/>
          <a:p>
            <a:pPr algn="l">
              <a:lnSpc>
                <a:spcPts val="1049"/>
              </a:lnSpc>
            </a:pPr>
            <a:r>
              <a:rPr lang="en-US" sz="810">
                <a:solidFill>
                  <a:srgbClr val="5E6872"/>
                </a:solidFill>
                <a:latin typeface="DejaVu Sans Light"/>
                <a:ea typeface="DejaVu Sans Light"/>
                <a:cs typeface="DejaVu Sans Light"/>
                <a:sym typeface="DejaVu Sans Light"/>
              </a:rPr>
              <a:t>Personal information is limited to details necessary for an academic application portfolio. Sensitive identifiers such as passwords, government numbers, and unnecessary private information are excluded. The document uses clear headings, consistent spacing, readable typography, and structured boxes for quick evaluation.</a:t>
            </a:r>
          </a:p>
        </p:txBody>
      </p:sp>
      <p:sp>
        <p:nvSpPr>
          <p:cNvPr name="TextBox 36" id="36"/>
          <p:cNvSpPr txBox="true"/>
          <p:nvPr/>
        </p:nvSpPr>
        <p:spPr>
          <a:xfrm rot="0">
            <a:off x="888997" y="10277856"/>
            <a:ext cx="2392108" cy="142018"/>
          </a:xfrm>
          <a:prstGeom prst="rect">
            <a:avLst/>
          </a:prstGeom>
        </p:spPr>
        <p:txBody>
          <a:bodyPr anchor="t" rtlCol="false" tIns="0" lIns="0" bIns="0" rIns="0">
            <a:spAutoFit/>
          </a:bodyPr>
          <a:lstStyle/>
          <a:p>
            <a:pPr algn="l">
              <a:lnSpc>
                <a:spcPts val="1050"/>
              </a:lnSpc>
            </a:pPr>
            <a:r>
              <a:rPr lang="en-US" sz="750">
                <a:solidFill>
                  <a:srgbClr val="5E6872"/>
                </a:solidFill>
                <a:latin typeface="DejaVu Sans Light"/>
                <a:ea typeface="DejaVu Sans Light"/>
                <a:cs typeface="DejaVu Sans Light"/>
                <a:sym typeface="DejaVu Sans Light"/>
              </a:rPr>
              <a:t>Randy L. Pangilinan Jr. • Process &amp; Integrity Note</a:t>
            </a:r>
          </a:p>
        </p:txBody>
      </p:sp>
      <p:sp>
        <p:nvSpPr>
          <p:cNvPr name="TextBox 37" id="37"/>
          <p:cNvSpPr txBox="true"/>
          <p:nvPr/>
        </p:nvSpPr>
        <p:spPr>
          <a:xfrm rot="0">
            <a:off x="4521641" y="9098156"/>
            <a:ext cx="1998031" cy="142018"/>
          </a:xfrm>
          <a:prstGeom prst="rect">
            <a:avLst/>
          </a:prstGeom>
        </p:spPr>
        <p:txBody>
          <a:bodyPr anchor="t" rtlCol="false" tIns="0" lIns="0" bIns="0" rIns="0">
            <a:spAutoFit/>
          </a:bodyPr>
          <a:lstStyle/>
          <a:p>
            <a:pPr algn="l">
              <a:lnSpc>
                <a:spcPts val="1050"/>
              </a:lnSpc>
            </a:pPr>
            <a:r>
              <a:rPr lang="en-US" sz="750">
                <a:solidFill>
                  <a:srgbClr val="1D5FA7"/>
                </a:solidFill>
                <a:latin typeface="DejaVu Sans Light"/>
                <a:ea typeface="DejaVu Sans Light"/>
                <a:cs typeface="DejaVu Sans Light"/>
                <a:sym typeface="DejaVu Sans Light"/>
              </a:rPr>
              <a:t>Template answer set • For academic use</a:t>
            </a:r>
          </a:p>
        </p:txBody>
      </p:sp>
      <p:sp>
        <p:nvSpPr>
          <p:cNvPr name="TextBox 38" id="38"/>
          <p:cNvSpPr txBox="true"/>
          <p:nvPr/>
        </p:nvSpPr>
        <p:spPr>
          <a:xfrm rot="0">
            <a:off x="6345250" y="10277856"/>
            <a:ext cx="332261" cy="142018"/>
          </a:xfrm>
          <a:prstGeom prst="rect">
            <a:avLst/>
          </a:prstGeom>
        </p:spPr>
        <p:txBody>
          <a:bodyPr anchor="t" rtlCol="false" tIns="0" lIns="0" bIns="0" rIns="0">
            <a:spAutoFit/>
          </a:bodyPr>
          <a:lstStyle/>
          <a:p>
            <a:pPr algn="l">
              <a:lnSpc>
                <a:spcPts val="1050"/>
              </a:lnSpc>
            </a:pPr>
            <a:r>
              <a:rPr lang="en-US" sz="750">
                <a:solidFill>
                  <a:srgbClr val="5E6872"/>
                </a:solidFill>
                <a:latin typeface="DejaVu Sans Light"/>
                <a:ea typeface="DejaVu Sans Light"/>
                <a:cs typeface="DejaVu Sans Light"/>
                <a:sym typeface="DejaVu Sans Light"/>
              </a:rPr>
              <a:t>Page 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DAHWSwUnnCk</dc:identifier>
  <dcterms:modified xsi:type="dcterms:W3CDTF">2011-08-01T06:04:30Z</dcterms:modified>
  <cp:revision>1</cp:revision>
  <dc:title>Randy_L_Pangilinan_Jr_Portfolio.pdf</dc:title>
</cp:coreProperties>
</file>